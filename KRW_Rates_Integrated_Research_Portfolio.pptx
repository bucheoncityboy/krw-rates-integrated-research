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3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4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4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4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4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27.png"/><Relationship Id="rId4" Type="http://schemas.openxmlformats.org/officeDocument/2006/relationships/image" Target="../media/image4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4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28.png"/><Relationship Id="rId4" Type="http://schemas.openxmlformats.org/officeDocument/2006/relationships/image" Target="../media/image4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29.png"/><Relationship Id="rId4" Type="http://schemas.openxmlformats.org/officeDocument/2006/relationships/image" Target="../media/image5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30.png"/><Relationship Id="rId4" Type="http://schemas.openxmlformats.org/officeDocument/2006/relationships/image" Target="../media/image5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5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5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31.png"/><Relationship Id="rId4" Type="http://schemas.openxmlformats.org/officeDocument/2006/relationships/image" Target="../media/image5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32.png"/><Relationship Id="rId4" Type="http://schemas.openxmlformats.org/officeDocument/2006/relationships/image" Target="../media/image5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5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5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5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0"/>
          </a:xfrm>
          <a:prstGeom prst="rect">
            <a:avLst/>
          </a:prstGeom>
          <a:solidFill>
            <a:srgbClr val="214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35240"/>
            <a:ext cx="9144000" cy="1508760"/>
          </a:xfrm>
          <a:prstGeom prst="rect">
            <a:avLst/>
          </a:prstGeom>
          <a:solidFill>
            <a:srgbClr val="2C8D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CADCEB"/>
                </a:solidFill>
                <a:latin typeface="Malgun Gothic"/>
              </a:rPr>
              <a:t>통합 연구 포트폴리오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7589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100" b="1">
                <a:solidFill>
                  <a:srgbClr val="FFFFFF"/>
                </a:solidFill>
                <a:latin typeface="Malgun Gothic"/>
              </a:rPr>
              <a:t>KRW Rates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algun Gothic"/>
              </a:rPr>
              <a:t>한국은행 통화정책에서 3s10s 거래심사까지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61488"/>
            <a:ext cx="79552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DCE8F1"/>
                </a:solidFill>
                <a:latin typeface="Malgun Gothic"/>
              </a:rPr>
              <a:t>BOK 정책 이벤트 · 커브 재가격 · Equal-DV01 예시 · 거래심사 / 실행감사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3310128"/>
            <a:ext cx="7863840" cy="0"/>
          </a:xfrm>
          <a:prstGeom prst="line">
            <a:avLst/>
          </a:prstGeom>
          <a:ln w="38100">
            <a:solidFill>
              <a:srgbClr val="2C8D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393192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20" b="1">
                <a:solidFill>
                  <a:srgbClr val="FFFFFF"/>
                </a:solidFill>
                <a:latin typeface="Malgun Gothic"/>
              </a:rPr>
              <a:t>CHAPTER 1 · 이벤트 스터디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70832"/>
            <a:ext cx="35661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DCE8F1"/>
                </a:solidFill>
                <a:latin typeface="Malgun Gothic"/>
              </a:rPr>
              <a:t>금통위 전후 KTB 3Y·10Y와 3s10s의 관측된 반응을 기술한다.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26280" y="3730752"/>
            <a:ext cx="0" cy="1463040"/>
          </a:xfrm>
          <a:prstGeom prst="line">
            <a:avLst/>
          </a:prstGeom>
          <a:ln w="19050">
            <a:solidFill>
              <a:srgbClr val="73AB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800600" y="3931920"/>
            <a:ext cx="36576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20" b="1">
                <a:solidFill>
                  <a:srgbClr val="FFFFFF"/>
                </a:solidFill>
                <a:latin typeface="Malgun Gothic"/>
              </a:rPr>
              <a:t>CHAPTER 2 · 거래심사 / 실행감사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4370832"/>
            <a:ext cx="3657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DCE8F1"/>
                </a:solidFill>
                <a:latin typeface="Malgun Gothic"/>
              </a:rPr>
              <a:t>그 반응이 사전 거래 근거였는지, 실제 상품으로 옮길 수 있었는지 심사한다.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7991856"/>
            <a:ext cx="6492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FFFFF"/>
                </a:solidFill>
                <a:latin typeface="Malgun Gothic"/>
              </a:rPr>
              <a:t>Decision vs Surprise   |   Reaction vs Edge   |   Shadow vs Live P&amp;L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7982712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>
                <a:solidFill>
                  <a:srgbClr val="FFFFFF"/>
                </a:solidFill>
                <a:latin typeface="Malgun Gothic"/>
              </a:rPr>
              <a:t>HY-FIN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14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41148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60" b="1">
                <a:solidFill>
                  <a:srgbClr val="FFFFFF"/>
                </a:solidFill>
                <a:latin typeface="Malgun Gothic"/>
              </a:rPr>
              <a:t>KRW RATES · 통합 연구 포트폴리오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7344F"/>
                </a:solidFill>
                <a:latin typeface="Malgun Gothic"/>
              </a:rPr>
              <a:t>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1106424"/>
            <a:ext cx="6126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20" b="0">
                <a:solidFill>
                  <a:srgbClr val="607487"/>
                </a:solidFill>
                <a:latin typeface="Malgun Gothic"/>
              </a:rPr>
              <a:t>Chapter 1과 Chapter 2를 하나의 연구→실행 흐름으로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8138160" cy="576072"/>
          </a:xfrm>
          <a:prstGeom prst="roundRect">
            <a:avLst/>
          </a:prstGeom>
          <a:solidFill>
            <a:srgbClr val="EF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10512"/>
            <a:ext cx="76809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1">
                <a:solidFill>
                  <a:srgbClr val="607487"/>
                </a:solidFill>
                <a:latin typeface="Malgun Gothic"/>
              </a:rPr>
              <a:t>버전 기준 · Ch1 발표 동결 36회 / Ch2 감사 동결 37회 / 이후 master 38회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0" y="2468880"/>
            <a:ext cx="0" cy="5714999"/>
          </a:xfrm>
          <a:prstGeom prst="line">
            <a:avLst/>
          </a:prstGeom>
          <a:ln w="12700">
            <a:solidFill>
              <a:srgbClr val="DCE6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377440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C8DBF"/>
                </a:solidFill>
                <a:latin typeface="Malgun Gothic"/>
              </a:rPr>
              <a:t>CHAPTER 1 · 이벤트 스터디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2491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17344F"/>
                </a:solidFill>
                <a:latin typeface="Malgun Gothic"/>
              </a:rPr>
              <a:t>금통위 전후 무엇이 관찰됐는가?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54680"/>
            <a:ext cx="594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2C8DBF"/>
                </a:solidFill>
                <a:latin typeface="Malgun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9888" y="3154680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17344F"/>
                </a:solidFill>
                <a:latin typeface="Malgun Gothic"/>
              </a:rPr>
              <a:t>Chapter 1 시작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47872"/>
            <a:ext cx="594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2C8DBF"/>
                </a:solidFill>
                <a:latin typeface="Malgun Gothic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3547872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17344F"/>
                </a:solidFill>
                <a:latin typeface="Malgun Gothic"/>
              </a:rPr>
              <a:t>연구 질문과 해석 경계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41063"/>
            <a:ext cx="594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2C8DBF"/>
                </a:solidFill>
                <a:latin typeface="Malgun Gothic"/>
              </a:rP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3941063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17344F"/>
                </a:solidFill>
                <a:latin typeface="Malgun Gothic"/>
              </a:rPr>
              <a:t>데이터와 이벤트 스터디 방법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34256"/>
            <a:ext cx="594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2C8DBF"/>
                </a:solidFill>
                <a:latin typeface="Malgun Gothic"/>
              </a:rPr>
              <a:t>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9888" y="4334256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17344F"/>
                </a:solidFill>
                <a:latin typeface="Malgun Gothic"/>
              </a:rPr>
              <a:t>만기별 금리 레벨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27448"/>
            <a:ext cx="594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2C8DBF"/>
                </a:solidFill>
                <a:latin typeface="Malgun Gothic"/>
              </a:rPr>
              <a:t>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4727448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17344F"/>
                </a:solidFill>
                <a:latin typeface="Malgun Gothic"/>
              </a:rPr>
              <a:t>KTB 3s10s 스프레드 방향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120640"/>
            <a:ext cx="594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2C8DBF"/>
                </a:solidFill>
                <a:latin typeface="Malgun Gothic"/>
              </a:rPr>
              <a:t>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5120640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17344F"/>
                </a:solidFill>
                <a:latin typeface="Malgun Gothic"/>
              </a:rPr>
              <a:t>핵심 결과: 평균보다 분포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513832"/>
            <a:ext cx="594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2C8DBF"/>
                </a:solidFill>
                <a:latin typeface="Malgun Gothic"/>
              </a:rPr>
              <a:t>09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9888" y="5513832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17344F"/>
                </a:solidFill>
                <a:latin typeface="Malgun Gothic"/>
              </a:rPr>
              <a:t>이벤트 산포도: 3Y vs 10Y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907024"/>
            <a:ext cx="594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2C8DBF"/>
                </a:solidFill>
                <a:latin typeface="Malgun Gothic"/>
              </a:rPr>
              <a:t>10-12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89888" y="5907024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17344F"/>
                </a:solidFill>
                <a:latin typeface="Malgun Gothic"/>
              </a:rPr>
              <a:t>대표 사례 A/B/C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00216"/>
            <a:ext cx="594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2C8DBF"/>
                </a:solidFill>
                <a:latin typeface="Malgun Gothic"/>
              </a:rPr>
              <a:t>13-15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6300216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17344F"/>
                </a:solidFill>
                <a:latin typeface="Malgun Gothic"/>
              </a:rPr>
              <a:t>Equal-DV01 예시와 잔존 리스크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00600" y="237744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C8DBF"/>
                </a:solidFill>
                <a:latin typeface="Malgun Gothic"/>
              </a:rPr>
              <a:t>CHAPTER 2 · 거래심사 / 실행감사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2724912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17344F"/>
                </a:solidFill>
                <a:latin typeface="Malgun Gothic"/>
              </a:rPr>
              <a:t>사전 진입 전 거래를 승인할 수 있었는가?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3154680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2C8DBF"/>
                </a:solidFill>
                <a:latin typeface="Malgun Gothic"/>
              </a:rPr>
              <a:t>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59552" y="3154680"/>
            <a:ext cx="294436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17344F"/>
                </a:solidFill>
                <a:latin typeface="Malgun Gothic"/>
              </a:rPr>
              <a:t>연결: 반응 → 거래가능성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520440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2C8DBF"/>
                </a:solidFill>
                <a:latin typeface="Malgun Gothic"/>
              </a:rPr>
              <a:t>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3520440"/>
            <a:ext cx="294436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17344F"/>
                </a:solidFill>
                <a:latin typeface="Malgun Gothic"/>
              </a:rPr>
              <a:t>Chapter 2 시작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3886200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2C8DBF"/>
                </a:solidFill>
                <a:latin typeface="Malgun Gothic"/>
              </a:rPr>
              <a:t>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59552" y="3886200"/>
            <a:ext cx="294436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17344F"/>
                </a:solidFill>
                <a:latin typeface="Malgun Gothic"/>
              </a:rPr>
              <a:t>CH1 → CH2 거래심사 질문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92040" y="4251960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2C8DBF"/>
                </a:solidFill>
                <a:latin typeface="Malgun Gothic"/>
              </a:rPr>
              <a:t>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59552" y="4251960"/>
            <a:ext cx="294436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17344F"/>
                </a:solidFill>
                <a:latin typeface="Malgun Gothic"/>
              </a:rPr>
              <a:t>7월 cutoff와 표본 동결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92040" y="4617720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2C8DBF"/>
                </a:solidFill>
                <a:latin typeface="Malgun Gothic"/>
              </a:rPr>
              <a:t>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59552" y="4617720"/>
            <a:ext cx="294436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17344F"/>
                </a:solidFill>
                <a:latin typeface="Malgun Gothic"/>
              </a:rPr>
              <a:t>단계별 의사결정 프레임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92040" y="4983480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2C8DBF"/>
                </a:solidFill>
                <a:latin typeface="Malgun Gothic"/>
              </a:rPr>
              <a:t>21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59552" y="4983480"/>
            <a:ext cx="294436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17344F"/>
                </a:solidFill>
                <a:latin typeface="Malgun Gothic"/>
              </a:rPr>
              <a:t>경제학자 consensus gate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2040" y="5349240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2C8DBF"/>
                </a:solidFill>
                <a:latin typeface="Malgun Gothic"/>
              </a:rPr>
              <a:t>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59552" y="5349240"/>
            <a:ext cx="294436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17344F"/>
                </a:solidFill>
                <a:latin typeface="Malgun Gothic"/>
              </a:rPr>
              <a:t>상품 규율과 DV01 매핑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92040" y="5715000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2C8DBF"/>
                </a:solidFill>
                <a:latin typeface="Malgun Gothic"/>
              </a:rPr>
              <a:t>23-24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59552" y="5715000"/>
            <a:ext cx="294436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17344F"/>
                </a:solidFill>
                <a:latin typeface="Malgun Gothic"/>
              </a:rPr>
              <a:t>역사적 재구성 H/C 사례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92040" y="6080760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2C8DBF"/>
                </a:solidFill>
                <a:latin typeface="Malgun Gothic"/>
              </a:rPr>
              <a:t>25-27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59552" y="6080760"/>
            <a:ext cx="294436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17344F"/>
                </a:solidFill>
                <a:latin typeface="Malgun Gothic"/>
              </a:rPr>
              <a:t>증거 감사, 손익 층위, forward integrity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2040" y="6446520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/>
            <a:r>
              <a:rPr sz="950" b="1">
                <a:solidFill>
                  <a:srgbClr val="2C8DBF"/>
                </a:solidFill>
                <a:latin typeface="Malgun Gothic"/>
              </a:rPr>
              <a:t>28-29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59552" y="6446520"/>
            <a:ext cx="294436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/>
            <a:r>
              <a:rPr sz="950" b="0">
                <a:solidFill>
                  <a:srgbClr val="17344F"/>
                </a:solidFill>
                <a:latin typeface="Malgun Gothic"/>
              </a:rPr>
              <a:t>최종 프레임과 Chapter 2 결론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02920" y="8183879"/>
            <a:ext cx="8138160" cy="0"/>
          </a:xfrm>
          <a:prstGeom prst="line">
            <a:avLst/>
          </a:prstGeom>
          <a:ln w="25400">
            <a:solidFill>
              <a:srgbClr val="2C8D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85800" y="8385048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7344F"/>
                </a:solidFill>
                <a:latin typeface="Malgun Gothic"/>
              </a:rPr>
              <a:t>Observe → Interpret → Underwrite → Audit → Forward Validate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873252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17344F"/>
                </a:solidFill>
                <a:latin typeface="Malgun Gothic"/>
              </a:rPr>
              <a:t>KRW Rates · Integrated Research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0" y="8732520"/>
            <a:ext cx="868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>
                <a:solidFill>
                  <a:srgbClr val="17344F"/>
                </a:solidFill>
                <a:latin typeface="Malgun Gothic"/>
              </a:rPr>
              <a:t>HY-FIN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92040" y="6812280"/>
            <a:ext cx="62179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950" b="1">
                <a:solidFill>
                  <a:srgbClr val="2C8DBF"/>
                </a:solidFill>
                <a:latin typeface="Malgun Gothic"/>
              </a:rPr>
              <a:t>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59552" y="6812280"/>
            <a:ext cx="2944368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950" b="0">
                <a:solidFill>
                  <a:srgbClr val="17344F"/>
                </a:solidFill>
                <a:latin typeface="Malgun Gothic"/>
              </a:rPr>
              <a:t>통합 결론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page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02920" y="347472"/>
            <a:ext cx="265176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2C8D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12648" y="411480"/>
            <a:ext cx="2468879" cy="137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40" b="1">
                <a:solidFill>
                  <a:srgbClr val="2C8DBF"/>
                </a:solidFill>
                <a:latin typeface="Malgun Gothic"/>
              </a:rPr>
              <a:t>CHAPTER 1 · 이벤트 스터디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page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001000" y="8631936"/>
            <a:ext cx="8229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8732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5A6978"/>
                </a:solidFill>
                <a:latin typeface="Arial"/>
              </a:rP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page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001000" y="8631936"/>
            <a:ext cx="8229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8732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5A6978"/>
                </a:solidFill>
                <a:latin typeface="Arial"/>
              </a:rP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page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001000" y="8631936"/>
            <a:ext cx="8229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8732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5A6978"/>
                </a:solidFill>
                <a:latin typeface="Arial"/>
              </a:rP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page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001000" y="8631936"/>
            <a:ext cx="8229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8732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5A6978"/>
                </a:solidFill>
                <a:latin typeface="Arial"/>
              </a:rP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page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001000" y="8631936"/>
            <a:ext cx="8229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8732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5A6978"/>
                </a:solidFill>
                <a:latin typeface="Arial"/>
              </a:rP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page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001000" y="8631936"/>
            <a:ext cx="8229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8732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5A6978"/>
                </a:solidFill>
                <a:latin typeface="Arial"/>
              </a:rP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page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001000" y="8631936"/>
            <a:ext cx="8229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8732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5A6978"/>
                </a:solidFill>
                <a:latin typeface="Arial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page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001000" y="8631936"/>
            <a:ext cx="8229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8732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5A6978"/>
                </a:solidFill>
                <a:latin typeface="Arial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page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001000" y="8631936"/>
            <a:ext cx="8229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8732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5A6978"/>
                </a:solidFill>
                <a:latin typeface="Arial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pag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001000" y="8631936"/>
            <a:ext cx="8229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8732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5A6978"/>
                </a:solidFill>
                <a:latin typeface="Arial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page-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001000" y="8631936"/>
            <a:ext cx="8229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8732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5A6978"/>
                </a:solidFill>
                <a:latin typeface="Arial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page-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001000" y="8631936"/>
            <a:ext cx="82296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38160" y="8732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5A6978"/>
                </a:solidFill>
                <a:latin typeface="Arial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214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83464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1">
                <a:solidFill>
                  <a:srgbClr val="FFFFFF"/>
                </a:solidFill>
                <a:latin typeface="Malgun Gothic"/>
              </a:rPr>
              <a:t>연결 · 반응 관찰에서 거래 심사로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051560"/>
            <a:ext cx="7132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17344F"/>
                </a:solidFill>
                <a:latin typeface="Malgun Gothic"/>
              </a:rPr>
              <a:t>반응 관찰에서 거래 심사로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17904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20" b="0">
                <a:solidFill>
                  <a:srgbClr val="607487"/>
                </a:solidFill>
                <a:latin typeface="Malgun Gothic"/>
              </a:rPr>
              <a:t>Chapter 1의 event reaction을 “사전에 거래 가능한 edge였는가?”라는 질문으로 다시 검증한다.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2C8DBF"/>
                </a:solidFill>
                <a:latin typeface="Malgun Gothic"/>
              </a:rPr>
              <a:t>1 · 관찰된 반응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8892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7344F"/>
                </a:solidFill>
                <a:latin typeface="Malgun Gothic"/>
              </a:rPr>
              <a:t>3Y·10Y 반응</a:t>
            </a:r>
          </a:p>
          <a:p>
            <a:r>
              <a:rPr sz="1000" b="0">
                <a:solidFill>
                  <a:srgbClr val="17344F"/>
                </a:solidFill>
                <a:latin typeface="Malgun Gothic"/>
              </a:rPr>
              <a:t>3s10s 확대/축소</a:t>
            </a:r>
          </a:p>
          <a:p>
            <a:r>
              <a:rPr sz="1000" b="0">
                <a:solidFill>
                  <a:srgbClr val="17344F"/>
                </a:solidFill>
                <a:latin typeface="Malgun Gothic"/>
              </a:rPr>
              <a:t>Bull/Bear 분류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71800" y="2907792"/>
            <a:ext cx="914400" cy="0"/>
          </a:xfrm>
          <a:prstGeom prst="line">
            <a:avLst/>
          </a:prstGeom>
          <a:ln w="25400">
            <a:solidFill>
              <a:srgbClr val="2C8D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703320" y="2423160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2C8DBF"/>
                </a:solidFill>
                <a:latin typeface="Malgun Gothic"/>
              </a:rPr>
              <a:t>2 · 미해결 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788920"/>
            <a:ext cx="2560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7344F"/>
                </a:solidFill>
                <a:latin typeface="Malgun Gothic"/>
              </a:rPr>
              <a:t>정책 방향은 이미 예상됐나?</a:t>
            </a:r>
          </a:p>
          <a:p>
            <a:r>
              <a:rPr sz="1000" b="0">
                <a:solidFill>
                  <a:srgbClr val="17344F"/>
                </a:solidFill>
                <a:latin typeface="Malgun Gothic"/>
              </a:rPr>
              <a:t>path와 communication은 달랐나?</a:t>
            </a:r>
          </a:p>
          <a:p>
            <a:r>
              <a:rPr sz="1000" b="0">
                <a:solidFill>
                  <a:srgbClr val="17344F"/>
                </a:solidFill>
                <a:latin typeface="Malgun Gothic"/>
              </a:rPr>
              <a:t>curve가 상대가치 edge였나?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263640" y="2907792"/>
            <a:ext cx="914400" cy="0"/>
          </a:xfrm>
          <a:prstGeom prst="line">
            <a:avLst/>
          </a:prstGeom>
          <a:ln w="25400">
            <a:solidFill>
              <a:srgbClr val="2C8D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37960" y="2423160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2C8DBF"/>
                </a:solidFill>
                <a:latin typeface="Malgun Gothic"/>
              </a:rPr>
              <a:t>3 · 거래 심사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788920"/>
            <a:ext cx="2011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7344F"/>
                </a:solidFill>
                <a:latin typeface="Malgun Gothic"/>
              </a:rPr>
              <a:t>entry 전 증거</a:t>
            </a:r>
          </a:p>
          <a:p>
            <a:r>
              <a:rPr sz="1000" b="0">
                <a:solidFill>
                  <a:srgbClr val="17344F"/>
                </a:solidFill>
                <a:latin typeface="Malgun Gothic"/>
              </a:rPr>
              <a:t>DV01 / residual</a:t>
            </a:r>
          </a:p>
          <a:p>
            <a:r>
              <a:rPr sz="1000" b="0">
                <a:solidFill>
                  <a:srgbClr val="17344F"/>
                </a:solidFill>
                <a:latin typeface="Malgun Gothic"/>
              </a:rPr>
              <a:t>friction / forward integrity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892040"/>
            <a:ext cx="7955279" cy="2148840"/>
          </a:xfrm>
          <a:prstGeom prst="roundRect">
            <a:avLst/>
          </a:prstGeom>
          <a:solidFill>
            <a:srgbClr val="EF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148072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7344F"/>
                </a:solidFill>
                <a:latin typeface="Malgun Gothic"/>
              </a:rPr>
              <a:t>Chapter 2가 추가하는 심사 규칙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53212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C8DBF"/>
                </a:solidFill>
                <a:latin typeface="Malgun Gothic"/>
              </a:rPr>
              <a:t>Stage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5532120"/>
            <a:ext cx="6217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7344F"/>
                </a:solidFill>
                <a:latin typeface="Malgun Gothic"/>
              </a:rPr>
              <a:t>Economist-consensus surprise가 있었는가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86130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C8DBF"/>
                </a:solidFill>
                <a:latin typeface="Malgun Gothic"/>
              </a:rPr>
              <a:t>Stage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861304"/>
            <a:ext cx="6217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7344F"/>
                </a:solidFill>
                <a:latin typeface="Malgun Gothic"/>
              </a:rPr>
              <a:t>Path / communication에서 차별화가 있었는가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619048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C8DBF"/>
                </a:solidFill>
                <a:latin typeface="Malgun Gothic"/>
              </a:rPr>
              <a:t>Stage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6190488"/>
            <a:ext cx="6217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7344F"/>
                </a:solidFill>
                <a:latin typeface="Malgun Gothic"/>
              </a:rPr>
              <a:t>Curve context / RV screen에서 actionable edge가 있었는가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651967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C8DBF"/>
                </a:solidFill>
                <a:latin typeface="Malgun Gothic"/>
              </a:rPr>
              <a:t>Stage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6519672"/>
            <a:ext cx="6217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7344F"/>
                </a:solidFill>
                <a:latin typeface="Malgun Gothic"/>
              </a:rPr>
              <a:t>KRX futures, DV01, residual, friction까지 통과하는가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22960" y="6720840"/>
            <a:ext cx="7498080" cy="0"/>
          </a:xfrm>
          <a:prstGeom prst="line">
            <a:avLst/>
          </a:prstGeom>
          <a:ln w="12700">
            <a:solidFill>
              <a:srgbClr val="DCE6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68680" y="6876288"/>
            <a:ext cx="7406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19" b="1">
                <a:solidFill>
                  <a:srgbClr val="17344F"/>
                </a:solidFill>
                <a:latin typeface="Malgun Gothic"/>
              </a:rPr>
              <a:t>결론이 NO TRADE여도 실패가 아니라, 사전 정보집합 안에서 risk를 승인하지 않은 의사결정 결과로 보존한다.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873252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607487"/>
                </a:solidFill>
                <a:latin typeface="Malgun Gothic"/>
              </a:rPr>
              <a:t>KRW Rates · Integrated Research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8732520"/>
            <a:ext cx="868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>
                <a:solidFill>
                  <a:srgbClr val="607487"/>
                </a:solidFill>
                <a:latin typeface="Malgun Gothic"/>
              </a:rPr>
              <a:t>HY-FIN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page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02920" y="347472"/>
            <a:ext cx="2971800" cy="310896"/>
          </a:xfrm>
          <a:prstGeom prst="roundRect">
            <a:avLst/>
          </a:prstGeom>
          <a:solidFill>
            <a:srgbClr val="FFFFFF"/>
          </a:solidFill>
          <a:ln>
            <a:solidFill>
              <a:srgbClr val="2C8D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12648" y="411480"/>
            <a:ext cx="2788920" cy="1371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40" b="1">
                <a:solidFill>
                  <a:srgbClr val="2C8DBF"/>
                </a:solidFill>
                <a:latin typeface="Malgun Gothic"/>
              </a:rPr>
              <a:t>CHAPTER 2 · 거래심사 / 실행감사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page-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38160" y="8732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5A6978"/>
                </a:solidFill>
                <a:latin typeface="Arial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page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38160" y="8732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5A6978"/>
                </a:solidFill>
                <a:latin typeface="Arial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page-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38160" y="8732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5A6978"/>
                </a:solidFill>
                <a:latin typeface="Arial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page-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38160" y="8732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5A6978"/>
                </a:solidFill>
                <a:latin typeface="Arial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page-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38160" y="8732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5A6978"/>
                </a:solidFill>
                <a:latin typeface="Arial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page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38160" y="8732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5A6978"/>
                </a:solidFill>
                <a:latin typeface="Arial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page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38160" y="8732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5A6978"/>
                </a:solidFill>
                <a:latin typeface="Arial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page-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38160" y="8732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5A6978"/>
                </a:solidFill>
                <a:latin typeface="Arial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page-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38160" y="8732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5A6978"/>
                </a:solidFill>
                <a:latin typeface="Arial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pag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38160" y="8732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5A6978"/>
                </a:solidFill>
                <a:latin typeface="Arial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page-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38160" y="8732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5A6978"/>
                </a:solidFill>
                <a:latin typeface="Arial"/>
              </a:rP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page-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91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138160" y="8732520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5A6978"/>
                </a:solidFill>
                <a:latin typeface="Arial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0"/>
          </a:xfrm>
          <a:prstGeom prst="rect">
            <a:avLst/>
          </a:prstGeom>
          <a:solidFill>
            <a:srgbClr val="214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ADCEB"/>
                </a:solidFill>
                <a:latin typeface="Malgun Gothic"/>
              </a:rPr>
              <a:t>통합 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61872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algun Gothic"/>
              </a:rPr>
              <a:t>연구에서 거래까지, 구분해야 할 세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80" b="0">
                <a:solidFill>
                  <a:srgbClr val="DCE8F1"/>
                </a:solidFill>
                <a:latin typeface="Malgun Gothic"/>
              </a:rPr>
              <a:t>이 합본은 알파 백테스트나 라이브 트랙레코드가 아니라, 이벤트 스터디를 거래심사 규율로 번역한 프로젝트다.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0080" y="2331720"/>
            <a:ext cx="7863840" cy="0"/>
          </a:xfrm>
          <a:prstGeom prst="line">
            <a:avLst/>
          </a:prstGeom>
          <a:ln w="38100">
            <a:solidFill>
              <a:srgbClr val="2C8D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2960" y="306324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ADCEB"/>
                </a:solidFill>
                <a:latin typeface="Malgun Gothic"/>
              </a:rPr>
              <a:t>01 · 이벤트 스터디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10712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Malgun Gothic"/>
              </a:rPr>
              <a:t>무엇이 일어났는가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03904"/>
            <a:ext cx="24231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DCE8F1"/>
                </a:solidFill>
                <a:latin typeface="Malgun Gothic"/>
              </a:rPr>
              <a:t>금통위 전후 3Y·10Y와 3s10s의 관측된 반응을 기술한다.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306324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ADCEB"/>
                </a:solidFill>
                <a:latin typeface="Malgun Gothic"/>
              </a:rPr>
              <a:t>02 · 거래심사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3410712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Malgun Gothic"/>
              </a:rPr>
              <a:t>사전 거래 근거가 있었는가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3803904"/>
            <a:ext cx="24231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DCE8F1"/>
                </a:solidFill>
                <a:latin typeface="Malgun Gothic"/>
              </a:rPr>
              <a:t>컨센서스, 경로, 커브 맥락을</a:t>
            </a:r>
          </a:p>
          <a:p>
            <a:r>
              <a:rPr sz="1000" b="0">
                <a:solidFill>
                  <a:srgbClr val="DCE8F1"/>
                </a:solidFill>
                <a:latin typeface="Malgun Gothic"/>
              </a:rPr>
              <a:t>사전 정보 안에서 심사한다.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306324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ADCEB"/>
                </a:solidFill>
                <a:latin typeface="Malgun Gothic"/>
              </a:rPr>
              <a:t>03 · 실행감사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410712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Malgun Gothic"/>
              </a:rPr>
              <a:t>실제로 옮길 수 있었는가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803904"/>
            <a:ext cx="24231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DCE8F1"/>
                </a:solidFill>
                <a:latin typeface="Malgun Gothic"/>
              </a:rPr>
              <a:t>상품, DV01, 잔여위험, 비용과</a:t>
            </a:r>
          </a:p>
          <a:p>
            <a:r>
              <a:rPr sz="1000" b="0">
                <a:solidFill>
                  <a:srgbClr val="DCE8F1"/>
                </a:solidFill>
                <a:latin typeface="Malgun Gothic"/>
              </a:rPr>
              <a:t>사전 증거를 확인한다.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7240" y="5559552"/>
            <a:ext cx="7589520" cy="0"/>
          </a:xfrm>
          <a:prstGeom prst="line">
            <a:avLst/>
          </a:prstGeom>
          <a:ln w="25400">
            <a:solidFill>
              <a:srgbClr val="2C8D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68680" y="5897880"/>
            <a:ext cx="7406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FFFFF"/>
                </a:solidFill>
                <a:latin typeface="Malgun Gothic"/>
              </a:rPr>
              <a:t>정책결정 vs 정책 surprise     |     관측 반응 vs 거래 근거     |     Shadow P&amp;L vs live 성과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812280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CADCEB"/>
                </a:solidFill>
                <a:latin typeface="Malgun Gothic"/>
              </a:rPr>
              <a:t>면접 핵심 메시지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7150608"/>
            <a:ext cx="7543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FFFFFF"/>
                </a:solidFill>
                <a:latin typeface="Malgun Gothic"/>
              </a:rPr>
              <a:t>정책 방향을 맞히는 것보다, 그 방향이 이미 얼마나 예상됐는지와 어떤 만기·상품으로 표현해야 하는지를 구분하는 것이</a:t>
            </a:r>
          </a:p>
          <a:p>
            <a:r>
              <a:rPr sz="1100" b="0">
                <a:solidFill>
                  <a:srgbClr val="FFFFFF"/>
                </a:solidFill>
                <a:latin typeface="Malgun Gothic"/>
              </a:rPr>
              <a:t>금리투자의 핵심이라는 점을 배웠다.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841248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80" b="1">
                <a:solidFill>
                  <a:srgbClr val="FFFFFF"/>
                </a:solidFill>
                <a:latin typeface="Malgun Gothic"/>
              </a:rPr>
              <a:t>KRW RATES · BOK POLICY EVENTS · KTB 3s10s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8412480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80" b="1">
                <a:solidFill>
                  <a:srgbClr val="FFFFFF"/>
                </a:solidFill>
                <a:latin typeface="Malgun Gothic"/>
              </a:rPr>
              <a:t>HY-FIN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