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117779ef6941d5" /><Relationship Type="http://schemas.openxmlformats.org/officeDocument/2006/relationships/extended-properties" Target="/docProps/app.xml" Id="R97ce4714cdda4a12" /><Relationship Type="http://schemas.openxmlformats.org/officeDocument/2006/relationships/officeDocument" Target="/ppt/presentation.xml" Id="R350713cc256645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bf0d4fd4554011"/>
  </p:sldMasterIdLst>
  <p:notesMasterIdLst>
    <p:notesMasterId xmlns:r="http://schemas.openxmlformats.org/officeDocument/2006/relationships" r:id="Ref267f7d2087409f"/>
  </p:notesMasterIdLst>
  <p:sldIdLst>
    <p:sldId xmlns:r="http://schemas.openxmlformats.org/officeDocument/2006/relationships" id="256" r:id="R0d2ff96f841145f1"/>
    <p:sldId xmlns:r="http://schemas.openxmlformats.org/officeDocument/2006/relationships" id="257" r:id="R0a5a875fcb214d26"/>
    <p:sldId xmlns:r="http://schemas.openxmlformats.org/officeDocument/2006/relationships" id="258" r:id="R75f3150bdf0c42c0"/>
    <p:sldId xmlns:r="http://schemas.openxmlformats.org/officeDocument/2006/relationships" id="259" r:id="R29ea0abefc704a36"/>
    <p:sldId xmlns:r="http://schemas.openxmlformats.org/officeDocument/2006/relationships" id="260" r:id="R84f728a13487489c"/>
    <p:sldId xmlns:r="http://schemas.openxmlformats.org/officeDocument/2006/relationships" id="261" r:id="R1917c06438c54a5f"/>
    <p:sldId xmlns:r="http://schemas.openxmlformats.org/officeDocument/2006/relationships" id="262" r:id="R0563496889924731"/>
    <p:sldId xmlns:r="http://schemas.openxmlformats.org/officeDocument/2006/relationships" id="263" r:id="Rc65c0082c7de46b9"/>
    <p:sldId xmlns:r="http://schemas.openxmlformats.org/officeDocument/2006/relationships" id="264" r:id="Rfdecf26f2127405e"/>
    <p:sldId xmlns:r="http://schemas.openxmlformats.org/officeDocument/2006/relationships" id="265" r:id="R4bdd559543974dcc"/>
    <p:sldId xmlns:r="http://schemas.openxmlformats.org/officeDocument/2006/relationships" id="266" r:id="Ref501e19a87746f7"/>
    <p:sldId xmlns:r="http://schemas.openxmlformats.org/officeDocument/2006/relationships" id="267" r:id="Ra7733c649de2411c"/>
    <p:sldId xmlns:r="http://schemas.openxmlformats.org/officeDocument/2006/relationships" id="268" r:id="R2c0828a0ad6a4b26"/>
    <p:sldId xmlns:r="http://schemas.openxmlformats.org/officeDocument/2006/relationships" id="269" r:id="Re13a34e210d1497b"/>
    <p:sldId xmlns:r="http://schemas.openxmlformats.org/officeDocument/2006/relationships" id="270" r:id="R35c2317e844d4549"/>
  </p:sldIdLst>
  <p:sldSz cx="9144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429fed1af8440f" /><Relationship Type="http://schemas.openxmlformats.org/officeDocument/2006/relationships/slideMaster" Target="/ppt/slideMasters/slideMaster1.xml" Id="Rc4bf0d4fd4554011" /><Relationship Type="http://schemas.openxmlformats.org/officeDocument/2006/relationships/notesMaster" Target="/ppt/notesMasters/notesMaster1.xml" Id="Ref267f7d2087409f" /><Relationship Type="http://schemas.openxmlformats.org/officeDocument/2006/relationships/presProps" Target="/ppt/presProps.xml" Id="Rc0819307180a4c96" /><Relationship Type="http://schemas.openxmlformats.org/officeDocument/2006/relationships/viewProps" Target="/ppt/viewProps.xml" Id="R0bd00fd74b5c48d4" /><Relationship Type="http://schemas.openxmlformats.org/officeDocument/2006/relationships/tableStyles" Target="/ppt/tableStyles.xml" Id="R6e9a38d669fa4b5c" /><Relationship Type="http://schemas.openxmlformats.org/officeDocument/2006/relationships/slide" Target="/ppt/slides/slide1.xml" Id="R0d2ff96f841145f1" /><Relationship Type="http://schemas.openxmlformats.org/officeDocument/2006/relationships/slide" Target="/ppt/slides/slide2.xml" Id="R0a5a875fcb214d26" /><Relationship Type="http://schemas.openxmlformats.org/officeDocument/2006/relationships/slide" Target="/ppt/slides/slide3.xml" Id="R75f3150bdf0c42c0" /><Relationship Type="http://schemas.openxmlformats.org/officeDocument/2006/relationships/slide" Target="/ppt/slides/slide4.xml" Id="R29ea0abefc704a36" /><Relationship Type="http://schemas.openxmlformats.org/officeDocument/2006/relationships/slide" Target="/ppt/slides/slide5.xml" Id="R84f728a13487489c" /><Relationship Type="http://schemas.openxmlformats.org/officeDocument/2006/relationships/slide" Target="/ppt/slides/slide6.xml" Id="R1917c06438c54a5f" /><Relationship Type="http://schemas.openxmlformats.org/officeDocument/2006/relationships/slide" Target="/ppt/slides/slide7.xml" Id="R0563496889924731" /><Relationship Type="http://schemas.openxmlformats.org/officeDocument/2006/relationships/slide" Target="/ppt/slides/slide8.xml" Id="Rc65c0082c7de46b9" /><Relationship Type="http://schemas.openxmlformats.org/officeDocument/2006/relationships/slide" Target="/ppt/slides/slide9.xml" Id="Rfdecf26f2127405e" /><Relationship Type="http://schemas.openxmlformats.org/officeDocument/2006/relationships/slide" Target="/ppt/slides/slide10.xml" Id="R4bdd559543974dcc" /><Relationship Type="http://schemas.openxmlformats.org/officeDocument/2006/relationships/slide" Target="/ppt/slides/slide11.xml" Id="Ref501e19a87746f7" /><Relationship Type="http://schemas.openxmlformats.org/officeDocument/2006/relationships/slide" Target="/ppt/slides/slide12.xml" Id="Ra7733c649de2411c" /><Relationship Type="http://schemas.openxmlformats.org/officeDocument/2006/relationships/slide" Target="/ppt/slides/slide13.xml" Id="R2c0828a0ad6a4b26" /><Relationship Type="http://schemas.openxmlformats.org/officeDocument/2006/relationships/slide" Target="/ppt/slides/slide14.xml" Id="Re13a34e210d1497b" /><Relationship Type="http://schemas.openxmlformats.org/officeDocument/2006/relationships/slide" Target="/ppt/slides/slide15.xml" Id="R35c2317e844d45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89633881954f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d9a27a453f4ee3" /><Relationship Type="http://schemas.openxmlformats.org/officeDocument/2006/relationships/notesMaster" Target="/ppt/notesMasters/notesMaster1.xml" Id="R97f6720ce5444f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94770168c64429" /><Relationship Type="http://schemas.openxmlformats.org/officeDocument/2006/relationships/notesMaster" Target="/ppt/notesMasters/notesMaster1.xml" Id="R99d8634296c246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f305b303234402" /><Relationship Type="http://schemas.openxmlformats.org/officeDocument/2006/relationships/notesMaster" Target="/ppt/notesMasters/notesMaster1.xml" Id="R05263d8ae6a243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b5cbb1a220490a" /><Relationship Type="http://schemas.openxmlformats.org/officeDocument/2006/relationships/notesMaster" Target="/ppt/notesMasters/notesMaster1.xml" Id="Ra5ca208453c341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bcbfab7be24b15" /><Relationship Type="http://schemas.openxmlformats.org/officeDocument/2006/relationships/notesMaster" Target="/ppt/notesMasters/notesMaster1.xml" Id="R706e0fd4f55941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bca4be95bd44e4" /><Relationship Type="http://schemas.openxmlformats.org/officeDocument/2006/relationships/notesMaster" Target="/ppt/notesMasters/notesMaster1.xml" Id="R3fdf12d1626d4c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3e669cd3154a5e" /><Relationship Type="http://schemas.openxmlformats.org/officeDocument/2006/relationships/notesMaster" Target="/ppt/notesMasters/notesMaster1.xml" Id="R74213ce34f7e46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3bc9855e3e4228" /><Relationship Type="http://schemas.openxmlformats.org/officeDocument/2006/relationships/notesMaster" Target="/ppt/notesMasters/notesMaster1.xml" Id="Rb9c2f91a855044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e0d0e17ef04f68" /><Relationship Type="http://schemas.openxmlformats.org/officeDocument/2006/relationships/notesMaster" Target="/ppt/notesMasters/notesMaster1.xml" Id="Rb39995d3431248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4d9ab6baec4788" /><Relationship Type="http://schemas.openxmlformats.org/officeDocument/2006/relationships/notesMaster" Target="/ppt/notesMasters/notesMaster1.xml" Id="Rf8b4dac9afb048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f0abd4babc4c95" /><Relationship Type="http://schemas.openxmlformats.org/officeDocument/2006/relationships/notesMaster" Target="/ppt/notesMasters/notesMaster1.xml" Id="Rca6b45fb2cca48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a00f45c1ee4245" /><Relationship Type="http://schemas.openxmlformats.org/officeDocument/2006/relationships/notesMaster" Target="/ppt/notesMasters/notesMaster1.xml" Id="R207a805b0e484c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9976ad8b7704803" /><Relationship Type="http://schemas.openxmlformats.org/officeDocument/2006/relationships/notesMaster" Target="/ppt/notesMasters/notesMaster1.xml" Id="R66ba4299f29749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dd5f21ea5cc46b5" /><Relationship Type="http://schemas.openxmlformats.org/officeDocument/2006/relationships/notesMaster" Target="/ppt/notesMasters/notesMaster1.xml" Id="R49af23380f3e46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7bc6090269470a" /><Relationship Type="http://schemas.openxmlformats.org/officeDocument/2006/relationships/notesMaster" Target="/ppt/notesMasters/notesMaster1.xml" Id="R852e13ce6df445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12dd1df7a946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32615c3145480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8f061d5c2a4016" /><Relationship Type="http://schemas.openxmlformats.org/officeDocument/2006/relationships/slideLayout" Target="/ppt/slideLayouts/slideLayout1.xml" Id="R5774bc218ce54d2f" /><Relationship Type="http://schemas.openxmlformats.org/officeDocument/2006/relationships/slideLayout" Target="/ppt/slideLayouts/slideLayout2.xml" Id="R91d8ef739429450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74bc218ce54d2f"/>
    <p:sldLayoutId xmlns:r="http://schemas.openxmlformats.org/officeDocument/2006/relationships" id="2147483650" r:id="R91d8ef739429450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41c72e0ec24883" /><Relationship Type="http://schemas.openxmlformats.org/officeDocument/2006/relationships/notesSlide" Target="/ppt/notesSlides/notesSlide1.xml" Id="R26a5765583d14f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84153693344b9e" /><Relationship Type="http://schemas.openxmlformats.org/officeDocument/2006/relationships/notesSlide" Target="/ppt/notesSlides/notesSlide2.xml" Id="Rdb0977aa3a4a44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36dedbd71d4ceb" /><Relationship Type="http://schemas.openxmlformats.org/officeDocument/2006/relationships/notesSlide" Target="/ppt/notesSlides/notesSlide3.xml" Id="Ra928a2cf72294b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0e7ad9616144aa" /><Relationship Type="http://schemas.openxmlformats.org/officeDocument/2006/relationships/notesSlide" Target="/ppt/notesSlides/notesSlide4.xml" Id="R378f393e141040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c273d3310c4b88" /><Relationship Type="http://schemas.openxmlformats.org/officeDocument/2006/relationships/image" Target="/ppt/media/image.png" Id="Ra644d2ab93784623" /><Relationship Type="http://schemas.openxmlformats.org/officeDocument/2006/relationships/notesSlide" Target="/ppt/notesSlides/notesSlide5.xml" Id="R3742fcbaaedb4e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bac39739ff4a43" /><Relationship Type="http://schemas.openxmlformats.org/officeDocument/2006/relationships/image" Target="/ppt/media/image2.png" Id="Rc3977cc45c8945ff" /><Relationship Type="http://schemas.openxmlformats.org/officeDocument/2006/relationships/notesSlide" Target="/ppt/notesSlides/notesSlide6.xml" Id="Rb046b2b830494d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9f7b2ed934411b" /><Relationship Type="http://schemas.openxmlformats.org/officeDocument/2006/relationships/notesSlide" Target="/ppt/notesSlides/notesSlide7.xml" Id="R44a7f5245c2146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5baa50bab14b8a" /><Relationship Type="http://schemas.openxmlformats.org/officeDocument/2006/relationships/image" Target="/ppt/media/image3.png" Id="R9d557ae82da64347" /><Relationship Type="http://schemas.openxmlformats.org/officeDocument/2006/relationships/notesSlide" Target="/ppt/notesSlides/notesSlide8.xml" Id="R5bdba132f17e45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f5036efaa64e9b" /><Relationship Type="http://schemas.openxmlformats.org/officeDocument/2006/relationships/notesSlide" Target="/ppt/notesSlides/notesSlide9.xml" Id="Rf43a5f25841641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910f9c8e5e4f49" /><Relationship Type="http://schemas.openxmlformats.org/officeDocument/2006/relationships/notesSlide" Target="/ppt/notesSlides/notesSlide10.xml" Id="Re5d0a95e181c4f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94a71e503a4f11" /><Relationship Type="http://schemas.openxmlformats.org/officeDocument/2006/relationships/notesSlide" Target="/ppt/notesSlides/notesSlide11.xml" Id="R9d1df65e3aa547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fb9cf21a3d4a16" /><Relationship Type="http://schemas.openxmlformats.org/officeDocument/2006/relationships/notesSlide" Target="/ppt/notesSlides/notesSlide12.xml" Id="R044c8c4a171748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cdbe6f42374d68" /><Relationship Type="http://schemas.openxmlformats.org/officeDocument/2006/relationships/notesSlide" Target="/ppt/notesSlides/notesSlide13.xml" Id="R3abfa20ef82745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c26dbc469e4b0c" /><Relationship Type="http://schemas.openxmlformats.org/officeDocument/2006/relationships/notesSlide" Target="/ppt/notesSlides/notesSlide14.xml" Id="Rfdd1450642f541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40e30a529e4f21" /><Relationship Type="http://schemas.openxmlformats.org/officeDocument/2006/relationships/notesSlide" Target="/ppt/notesSlides/notesSlide15.xml" Id="R12744d62d9a242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3F6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3D1F2F-E14A-426B-ADF1-9259CA28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12700">
            <a:solidFill>
              <a:srgbClr val="203F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62A4064-DA43-47E6-885C-C6AE6DF9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795528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금통위 결정 전후</a:t>
            </a:r>
            <a:endParaRPr sz="2900"/>
          </a:p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국고채 3s10s 금리곡선 반응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CB70254-7F2D-4376-8C4E-12A9A75E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88920"/>
            <a:ext cx="74980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C9DBEB"/>
                </a:solidFill>
                <a:latin typeface="Noto Sans CJK KR"/>
                <a:ea typeface="Noto Sans CJK KR"/>
                <a:cs typeface="Noto Sans CJK KR"/>
              </a:rPr>
              <a:t>36회 정책결정 사건연구와 DV01 중립 가상 포지션</a:t>
            </a:r>
            <a:endParaRPr sz="12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618B19F-269E-4ACD-9AD1-B5440E52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73552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D85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C356B90-1E08-4AE1-8B89-69ED181B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9144000" cy="2578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5BF"/>
          </a:solidFill>
          <a:ln xmlns:a="http://schemas.openxmlformats.org/drawingml/2006/main" w="12700">
            <a:solidFill>
              <a:srgbClr val="2D85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1CB10B7-655C-499A-A49C-58CC7F51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986016"/>
            <a:ext cx="6309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Event Study · RATES · CURVE · RELATIVE VALUE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4E2A4BD-93FE-4DD3-914B-97CB385B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781812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381D40D-4B38-47BF-B8BB-93B2869B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818120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9EEFF"/>
                </a:solidFill>
                <a:latin typeface="Noto Sans CJK KR"/>
                <a:ea typeface="Noto Sans CJK KR"/>
                <a:cs typeface="Noto Sans CJK KR"/>
              </a:rPr>
              <a:t>2026년 6월</a:t>
            </a:r>
            <a:endParaRPr sz="1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6E3A44-2A9E-45EB-B604-B62CB2C5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66928"/>
            <a:ext cx="1078992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016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DC168E3-A7D9-4A9D-97D4-876ED708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667512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GAMMA</a:t>
            </a:r>
            <a:endParaRPr sz="1020"/>
          </a:p>
        </p:txBody>
      </p:sp>
    </p:spTree>
    <p:extLst>
      <p:ext uri="{BB962C8B-B14F-4D97-AF65-F5344CB8AC3E}">
        <p14:creationId xmlns:p14="http://schemas.microsoft.com/office/powerpoint/2010/main" val="13357878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5308F9E-63BB-4BDE-979C-0FF51258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12700">
            <a:solidFill>
              <a:srgbClr val="203F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F0044D-9A34-4E21-A640-D3689680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"/>
            <a:ext cx="7269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목차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6869EC0-3AE8-4E32-B8D6-3D242B74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786384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9F4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9F31C98-6611-4065-88DB-13AA28E5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74320"/>
            <a:ext cx="804672" cy="347472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016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3E7164-B5D9-425E-A42A-6C289799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356616"/>
            <a:ext cx="69494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GAMMA</a:t>
            </a:r>
            <a:endParaRPr sz="83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403E268-A9A9-4731-A783-22F7B404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40233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5BF"/>
          </a:solidFill>
          <a:ln xmlns:a="http://schemas.openxmlformats.org/drawingml/2006/main" w="12700">
            <a:solidFill>
              <a:srgbClr val="2D85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729D7B1-E834-41F4-93F5-4043264D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56816"/>
            <a:ext cx="34747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</a:t>
            </a:r>
            <a:endParaRPr sz="8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3DCD517-8554-4280-BAF9-1F4848A1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11096"/>
            <a:ext cx="324612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2D85B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8492A6">
                <a:alpha val="1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7486281-BF8F-47D4-8D0A-E41F313A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984248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연구 질문과 해석 경계</a:t>
            </a:r>
            <a:endParaRPr sz="97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0F9269A-0CD1-4D5C-934F-78294C49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203704"/>
            <a:ext cx="2926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Policy decision ≠ Policy surprise</a:t>
            </a:r>
            <a:endParaRPr sz="7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CBB2CD2-9853-4231-BA0D-8D51D5BC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63240"/>
            <a:ext cx="40233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5BF"/>
          </a:solidFill>
          <a:ln xmlns:a="http://schemas.openxmlformats.org/drawingml/2006/main" w="12700">
            <a:solidFill>
              <a:srgbClr val="2D85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9699551-E5C3-4319-BEB7-7BB5A854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099816"/>
            <a:ext cx="34747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</a:t>
            </a:r>
            <a:endParaRPr sz="8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238C8F9-A164-420B-A4B4-E8F11815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54096"/>
            <a:ext cx="324612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2D85B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8492A6">
                <a:alpha val="1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01F9BB7-64E8-4C15-BC0C-2EB6FAC1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3127248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데이터와 Event Study 방법</a:t>
            </a:r>
            <a:endParaRPr sz="97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512BFCC-9728-4690-BCF2-A1ABBB67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3346704"/>
            <a:ext cx="2926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BOK 36회 · D0/D+1/D+5</a:t>
            </a:r>
            <a:endParaRPr sz="7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41F8763-ACD3-4335-81D6-B73E7A56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206240"/>
            <a:ext cx="40233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5BF"/>
          </a:solidFill>
          <a:ln xmlns:a="http://schemas.openxmlformats.org/drawingml/2006/main" w="12700">
            <a:solidFill>
              <a:srgbClr val="2D85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7B4CDE2-FA8A-478A-865C-CCB39BE1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242816"/>
            <a:ext cx="34747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</a:t>
            </a:r>
            <a:endParaRPr sz="8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AE87FD7-54BA-415D-811D-544BE478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197096"/>
            <a:ext cx="324612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2D85B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8492A6">
                <a:alpha val="1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E82683A-6D91-4566-9DE2-2FF1BB16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4270248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만기별 반응과 3s10s</a:t>
            </a:r>
            <a:endParaRPr sz="97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CA87C78-A6ED-4CAF-AF5D-647C66CD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4489704"/>
            <a:ext cx="2926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3Y vs 10Y · 3s10s change</a:t>
            </a:r>
            <a:endParaRPr sz="72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F17494F-7BC0-4A1F-8C6E-1ECFA409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20240"/>
            <a:ext cx="40233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5BF"/>
          </a:solidFill>
          <a:ln xmlns:a="http://schemas.openxmlformats.org/drawingml/2006/main" w="12700">
            <a:solidFill>
              <a:srgbClr val="2D85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037C3B3-5834-4C2B-BD7F-F31B7D5F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1956816"/>
            <a:ext cx="34747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04</a:t>
            </a:r>
            <a:endParaRPr sz="8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43BC65B-7853-4ED1-84F6-5A798466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4" y="1911096"/>
            <a:ext cx="324612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2D85B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8492A6">
                <a:alpha val="1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822785A-A906-4BC6-89F4-DA2E7C45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88" y="1984248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대표 사례 분석</a:t>
            </a:r>
            <a:endParaRPr sz="97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8778CDA-E588-49F3-89A8-3D0B672E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88" y="2203704"/>
            <a:ext cx="2926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Easing · Tightening · External shock</a:t>
            </a:r>
            <a:endParaRPr sz="72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D96C04B-CE0E-4727-899B-DAD28803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063240"/>
            <a:ext cx="40233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5BF"/>
          </a:solidFill>
          <a:ln xmlns:a="http://schemas.openxmlformats.org/drawingml/2006/main" w="12700">
            <a:solidFill>
              <a:srgbClr val="2D85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E2FE522-CDB7-4DFC-84EB-69C55444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3099816"/>
            <a:ext cx="34747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05</a:t>
            </a:r>
            <a:endParaRPr sz="8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78BFFBA8-3287-42B4-8A0E-8194747F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4" y="3054096"/>
            <a:ext cx="324612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2D85B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8492A6">
                <a:alpha val="1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C6D02D2-CDD0-477A-B104-8455007C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88" y="3127248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DV01-neutral Trade Construction</a:t>
            </a:r>
            <a:endParaRPr sz="97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325B0645-EBAA-4D48-AEBA-8166AA92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88" y="3346704"/>
            <a:ext cx="2926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3Y Long / 10Y Short</a:t>
            </a:r>
            <a:endParaRPr sz="72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CA123A28-9B5F-4207-98AB-A915DF3A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206240"/>
            <a:ext cx="40233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5BF"/>
          </a:solidFill>
          <a:ln xmlns:a="http://schemas.openxmlformats.org/drawingml/2006/main" w="12700">
            <a:solidFill>
              <a:srgbClr val="2D85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91D3A47-27B6-4FB1-A263-B24783C0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4242816"/>
            <a:ext cx="34747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06</a:t>
            </a:r>
            <a:endParaRPr sz="8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0A32258-72C6-4260-9620-652EA34E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4" y="4197096"/>
            <a:ext cx="324612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2D85B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8492A6">
                <a:alpha val="1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5016F48-35A2-4A20-8C94-FE803AEA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88" y="4270248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Invalidation &amp; Desk Takeaways</a:t>
            </a:r>
            <a:endParaRPr sz="97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BCCCF6E-13D8-4FAE-87FE-FFB3FEF6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88" y="4489704"/>
            <a:ext cx="2926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Already priced in · Residual risk</a:t>
            </a:r>
            <a:endParaRPr sz="72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20F9D189-70F0-4362-8928-C77DD3FB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7726680"/>
            <a:ext cx="1325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GAMMA</a:t>
            </a:r>
            <a:endParaRPr sz="130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8135FECE-FDD9-4F3F-ADA1-B8A936BC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8595360"/>
            <a:ext cx="8366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D2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9DEC2A14-F5A0-4CF0-B984-E8333C56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723376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KTB 3s10s · GAMMA</a:t>
            </a:r>
            <a:endParaRPr sz="82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C83ABFEE-539C-468B-8B7D-F70DAB15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872337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2 / 15</a:t>
            </a:r>
            <a:endParaRPr sz="820"/>
          </a:p>
        </p:txBody>
      </p:sp>
    </p:spTree>
    <p:extLst>
      <p:ext uri="{BB962C8B-B14F-4D97-AF65-F5344CB8AC3E}">
        <p14:creationId xmlns:p14="http://schemas.microsoft.com/office/powerpoint/2010/main" val="10669693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4A17617-EB03-4513-B2D1-6C25F768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12700">
            <a:solidFill>
              <a:srgbClr val="203F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AD56149-5538-423E-B138-61164849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"/>
            <a:ext cx="7269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연구 질문과 Scope Boundary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7D1F6B0-63D3-4E39-9B98-A866C0C3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786384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9F4"/>
                </a:solidFill>
                <a:latin typeface="Noto Sans CJK KR"/>
                <a:ea typeface="Noto Sans CJK KR"/>
                <a:cs typeface="Noto Sans CJK KR"/>
              </a:rPr>
              <a:t>정책 기대와 서프라이즈를 직접 측정하지 않은 사건연구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EA36B4-DE37-4DB6-8FF8-BA0B3804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74320"/>
            <a:ext cx="804672" cy="347472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016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EBE464D-8070-4F69-8CB6-F1802035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356616"/>
            <a:ext cx="69494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GAMMA</a:t>
            </a:r>
            <a:endParaRPr sz="83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1283632-3E93-4B4B-91EB-36AB0EAE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76400"/>
            <a:ext cx="768096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latin typeface="Noto Sans CJK KR"/>
                <a:ea typeface="Noto Sans CJK KR"/>
                <a:cs typeface="Noto Sans CJK KR"/>
              </a:rPr>
              <a:t>금통위 전후 커브 반응과 대표 사례의 가상 DV01 손익·위험은 무엇인가?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62CD59A-F56D-4283-AB1F-EBA1440B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5146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D6FA65-1A10-4B20-8013-8CB5F1C9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9728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5BF"/>
          </a:solidFill>
          <a:ln xmlns:a="http://schemas.openxmlformats.org/drawingml/2006/main" w="12700">
            <a:solidFill>
              <a:srgbClr val="2D85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E72E6B5-4033-4550-AAF7-91C69FD8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889504"/>
            <a:ext cx="2194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OBSERVED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C56DE84-5F7A-4569-BE24-64FB8B67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255264"/>
            <a:ext cx="2167128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정책결정 36회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KTB 3Y·10Y 변화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3s10s 확대/축소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UST2·UST10·FX 확인</a:t>
            </a:r>
            <a:endParaRPr sz="9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23ED77A-B14D-4804-9108-F5D1B61F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743200"/>
            <a:ext cx="25146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C419289-3652-447C-BABA-3DFE463D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743200"/>
            <a:ext cx="109728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8F16675-7F5C-47C6-AAC3-403BFCE7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2889504"/>
            <a:ext cx="2194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INTERPRETED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510FCE4-40EA-43FB-A4D2-40461CF5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3255264"/>
            <a:ext cx="2167128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완화/긴축 방향과 부합 여부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Bull/Bear + Steepener/Flattener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국내/external factors 혼재 여부</a:t>
            </a:r>
            <a:endParaRPr sz="9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2DA97A1-2D05-42D5-8514-585C9CB9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743200"/>
            <a:ext cx="25146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200CF1E-8F3B-499D-86FD-9806DC3F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743200"/>
            <a:ext cx="109728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12700">
            <a:solidFill>
              <a:srgbClr val="2AA87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0BCAF5E-0A03-4E53-8341-15781DC2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889504"/>
            <a:ext cx="2194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ILLUSTRATIVE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861D68B-5EB0-4824-865F-FBADFEB9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255264"/>
            <a:ext cx="2167128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Equal-DV01 illustrative position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3s10s 1bp당 P&amp;L sensitivity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실제 execution/performance 아님</a:t>
            </a:r>
            <a:endParaRPr sz="92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F0575DC-A17D-44D0-BB66-83BF8FA2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8595360"/>
            <a:ext cx="8366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D2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3CA9B4F-D005-4951-952A-8EDE99BF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723376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KTB 3s10s · GAMMA</a:t>
            </a:r>
            <a:endParaRPr sz="82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7C92BFE-D0B0-4A1C-A604-961A54B7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872337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3 / 15</a:t>
            </a:r>
            <a:endParaRPr sz="820"/>
          </a:p>
        </p:txBody>
      </p:sp>
    </p:spTree>
    <p:extLst>
      <p:ext uri="{BB962C8B-B14F-4D97-AF65-F5344CB8AC3E}">
        <p14:creationId xmlns:p14="http://schemas.microsoft.com/office/powerpoint/2010/main" val="1946811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BE45CA-F6E9-4492-BD83-E3ED3936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12700">
            <a:solidFill>
              <a:srgbClr val="203F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3587024-CCE6-4EA6-B281-A9108305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"/>
            <a:ext cx="7269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데이터와 Event Study 방법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FCDB132-5A39-44CA-845C-B221A86A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786384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9F4"/>
                </a:solidFill>
                <a:latin typeface="Noto Sans CJK KR"/>
                <a:ea typeface="Noto Sans CJK KR"/>
                <a:cs typeface="Noto Sans CJK KR"/>
              </a:rPr>
              <a:t>36회 정책결정 · 일별 공시금리 · time alignment 원칙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D34B5B3-E2CF-4733-8823-A654AE68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74320"/>
            <a:ext cx="804672" cy="347472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016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6DB7F2F-437E-44E4-98C8-1F9DD89A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356616"/>
            <a:ext cx="69494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GAMMA</a:t>
            </a:r>
            <a:endParaRPr sz="83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7D5FDC4-C2E0-49A0-831B-CF251E27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91640"/>
            <a:ext cx="169164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EE8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8A6B3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274842F-B835-43C2-BF1E-E0C6B8AA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10512"/>
            <a:ext cx="154533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D85BF"/>
                </a:solidFill>
                <a:latin typeface="Noto Sans CJK KR"/>
                <a:ea typeface="Noto Sans CJK KR"/>
                <a:cs typeface="Noto Sans CJK KR"/>
              </a:rPr>
              <a:t>36회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1C0B4CC-DADF-4479-9B57-4875E3B5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144"/>
            <a:ext cx="1508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policy decisions</a:t>
            </a:r>
            <a:endParaRPr sz="73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27BEA0-F7F1-4961-A2A1-017B4C2E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91640"/>
            <a:ext cx="169164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EE8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8A6B3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1079C12-BFB2-4050-8637-CFA4C389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1810512"/>
            <a:ext cx="154533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D85BF"/>
                </a:solidFill>
                <a:latin typeface="Noto Sans CJK KR"/>
                <a:ea typeface="Noto Sans CJK KR"/>
                <a:cs typeface="Noto Sans CJK KR"/>
              </a:rPr>
              <a:t>1,084개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A364BAF-CADF-4137-9D34-B6C16598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295144"/>
            <a:ext cx="1508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공통 관측일</a:t>
            </a:r>
            <a:endParaRPr sz="73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C9741FB-259A-4126-A5A5-CB170F70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691640"/>
            <a:ext cx="169164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EE8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8A6B3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BF445FB-5B5B-47FD-98C9-A083940A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1810512"/>
            <a:ext cx="154533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28C28"/>
                </a:solidFill>
                <a:latin typeface="Noto Sans CJK KR"/>
                <a:ea typeface="Noto Sans CJK KR"/>
                <a:cs typeface="Noto Sans CJK KR"/>
              </a:rPr>
              <a:t>2022–2026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BA312DE-0249-432B-8BAD-6D6760BA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295144"/>
            <a:ext cx="1508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2022.01–2026.05</a:t>
            </a:r>
            <a:endParaRPr sz="73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D5CB4D-1234-4A26-B4A3-C60EA82D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91640"/>
            <a:ext cx="169164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EE8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8A6B3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924A2D6-DEB4-406E-94E2-0F35D038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810512"/>
            <a:ext cx="154533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AA876"/>
                </a:solidFill>
                <a:latin typeface="Noto Sans CJK KR"/>
                <a:ea typeface="Noto Sans CJK KR"/>
                <a:cs typeface="Noto Sans CJK KR"/>
              </a:rPr>
              <a:t>D0 / D+1 / D+5</a:t>
            </a:r>
            <a:endParaRPr sz="1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CBBD42E-4334-4DF5-8AA0-6B969BB8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295144"/>
            <a:ext cx="1508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Event window</a:t>
            </a:r>
            <a:endParaRPr sz="73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9A349A2-2485-437B-A2F3-6959D825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069080"/>
            <a:ext cx="6949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03F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7B95B9E-AFF9-4B3F-98AC-4A7FD216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5876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5B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9804D36-AC0B-4E6F-82EA-965FEC81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37560"/>
            <a:ext cx="822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D-1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6DD2B4E-5A82-4083-8437-54357CDC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3484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직전 공통 관측일</a:t>
            </a:r>
            <a:endParaRPr sz="7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EBECA77-BDDC-45B6-B3D8-78989755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5876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F96F2FE-E8C6-4679-8882-C5ACCC80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337560"/>
            <a:ext cx="822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D0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289D89A-56FC-4803-8953-9CB87F57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443484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발표일 종가 (보조)</a:t>
            </a:r>
            <a:endParaRPr sz="75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분 단위 즉시반응 측정 아님</a:t>
            </a:r>
            <a:endParaRPr sz="7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4935E1E-476C-4B89-864D-16A0845B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85876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E1D4760-2CDB-40C6-A048-788D06A4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37560"/>
            <a:ext cx="822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D+1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ED6D39F-2E8F-427B-A1D0-DB3F4F33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43484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다음 공통 관측일</a:t>
            </a:r>
            <a:endParaRPr sz="7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7336E103-CC49-42EF-B452-13636178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85876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EA1ACF1-7BD2-4D4C-8BC2-225B8539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337560"/>
            <a:ext cx="822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D+5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70BC8C8-6966-4F75-B095-A34ECB82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3484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다섯째 공통 관측일</a:t>
            </a:r>
            <a:endParaRPr sz="7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D9B0C9C6-8128-4D9D-B6C4-5D9B7426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86400"/>
            <a:ext cx="2743200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27755461-8717-4E43-B94A-F90D0307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86400"/>
            <a:ext cx="10972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5BF"/>
          </a:solidFill>
          <a:ln xmlns:a="http://schemas.openxmlformats.org/drawingml/2006/main" w="12700">
            <a:solidFill>
              <a:srgbClr val="2D85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A63D16D-C3E8-4DD2-8ECD-1782CEAB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2704"/>
            <a:ext cx="2423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KTB 데이터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E952A18E-8535-4152-909C-747A2A66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998464"/>
            <a:ext cx="239572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ECOS 일별 공시 시장금리</a:t>
            </a:r>
            <a:endParaRPr sz="87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KTB 3Y / 10Y · 특정 발행채 총수익률 아님</a:t>
            </a:r>
            <a:endParaRPr sz="87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D799AFB-3DED-4326-A09C-18E990F7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86400"/>
            <a:ext cx="2194560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B1DFFC55-F029-4174-879A-2E667307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86400"/>
            <a:ext cx="10972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E6CCA670-5329-402F-8901-8EEE7F77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5632704"/>
            <a:ext cx="18745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US rates check</a:t>
            </a:r>
            <a:endParaRPr sz="12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58747977-F3C0-4CE2-9672-CADBDB12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5998464"/>
            <a:ext cx="184708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FRED DGS2 / DGS10</a:t>
            </a:r>
            <a:endParaRPr sz="87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미국 2년·10년 금리 확인</a:t>
            </a:r>
            <a:endParaRPr sz="87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2F76BE70-F3AB-4D4D-9E52-AC33B681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5486400"/>
            <a:ext cx="2331720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BFF242E-CA89-4AE5-9502-DF29FE15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5486400"/>
            <a:ext cx="10972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12700">
            <a:solidFill>
              <a:srgbClr val="2AA87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7A0BD36A-344F-4688-A417-E6956D17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5632704"/>
            <a:ext cx="20116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FX check</a:t>
            </a:r>
            <a:endParaRPr sz="12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C8C56967-BBD3-4D23-8513-047CD136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5998464"/>
            <a:ext cx="198424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FRED DEXKOUS</a:t>
            </a:r>
            <a:endParaRPr sz="87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뉴욕 정오 기준 · 서울 외환시장 마감 시각과 다름</a:t>
            </a:r>
            <a:endParaRPr sz="87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C3B42A2-E63C-457D-B99D-E8A1ED30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302752"/>
            <a:ext cx="8138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5" i="1">
                <a:solidFill>
                  <a:srgbClr val="788695"/>
                </a:solidFill>
                <a:latin typeface="Noto Sans CJK KR"/>
                <a:ea typeface="Noto Sans CJK KR"/>
                <a:cs typeface="Noto Sans CJK KR"/>
              </a:rPr>
              <a:t>Source: 한국은행 Monetary Policy Decisions·ECOS 817Y002 (KTB 3Y 010200000, 10Y 010210000); Federal Reserve/FRED DGS2·DGS10·DEXKOUS. 정책결정 표본은 2026.05.28까지, 시장반응 관측은 2026.06.05까지.</a:t>
            </a:r>
            <a:endParaRPr sz="635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A6F9B25F-632E-427D-8273-91C596D4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8595360"/>
            <a:ext cx="8366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D2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6296A26D-BC0C-48AA-845B-5F552554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723376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KTB 3s10s · GAMMA</a:t>
            </a:r>
            <a:endParaRPr sz="82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18940BBC-5EF0-4B9E-9BAE-F9D6D5DD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872337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4 / 15</a:t>
            </a:r>
            <a:endParaRPr sz="820"/>
          </a:p>
        </p:txBody>
      </p:sp>
    </p:spTree>
    <p:extLst>
      <p:ext uri="{BB962C8B-B14F-4D97-AF65-F5344CB8AC3E}">
        <p14:creationId xmlns:p14="http://schemas.microsoft.com/office/powerpoint/2010/main" val="19116179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72F4DD0-6154-4AB6-A4BC-32676A34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12700">
            <a:solidFill>
              <a:srgbClr val="203F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FD7CA5-EE16-491E-9ECA-BF8FAEDD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"/>
            <a:ext cx="7269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만기별 yield level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2C4CF85-492D-4F06-81F7-1D624A99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786384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9F4"/>
                </a:solidFill>
                <a:latin typeface="Noto Sans CJK KR"/>
                <a:ea typeface="Noto Sans CJK KR"/>
                <a:cs typeface="Noto Sans CJK KR"/>
              </a:rPr>
              <a:t>KTB 3Y와 10Y의 time-series view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BA1970F-0711-4E72-A3D5-B221C662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74320"/>
            <a:ext cx="804672" cy="347472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016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F9AD291-8DFF-4764-95F1-19D4502A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356616"/>
            <a:ext cx="69494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GAMMA</a:t>
            </a:r>
            <a:endParaRPr sz="83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F1AF594-DE9A-4B2C-8BD5-D9D6ACC2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536192"/>
            <a:ext cx="809244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EE8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AA7B5">
                <a:alpha val="13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385320C-0FC7-4830-B8F5-15661EAE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645920"/>
            <a:ext cx="7818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그림 1. 국고채 3Y / 10Y 공시금리</a:t>
            </a:r>
            <a:endParaRPr sz="10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0DA57C3-E62F-4750-83C6-F76BD4C9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2377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380F905-7E79-49A5-8A62-F238CA82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9728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745"/>
          </a:solidFill>
          <a:ln xmlns:a="http://schemas.openxmlformats.org/drawingml/2006/main" w="12700">
            <a:solidFill>
              <a:srgbClr val="D6574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2DA5CB4-C37D-4535-8D0E-E6B60922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769864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긴축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763ABFA-61B5-4C3F-BEC2-AA30F62A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135624"/>
            <a:ext cx="2029968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2022년 yield level 급등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정책 정상화와 물가 압력</a:t>
            </a:r>
            <a:endParaRPr sz="8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CA9556F0-6A13-437A-852B-9F1CD2E7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5623560"/>
            <a:ext cx="2377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B46FA1B-DC6B-4B4F-AB0D-8CB1546A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5623560"/>
            <a:ext cx="109728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5BF"/>
          </a:solidFill>
          <a:ln xmlns:a="http://schemas.openxmlformats.org/drawingml/2006/main" w="12700">
            <a:solidFill>
              <a:srgbClr val="2D85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DDF1984-909D-4DBC-990F-AD2974A1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769864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High-for-long hold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A3B89FE-CA80-42B8-A485-526E6AB2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135624"/>
            <a:ext cx="2029968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2023~2024년 고금리 유지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3Y·10Y 동행과 괴리 반복</a:t>
            </a:r>
            <a:endParaRPr sz="8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200921A-ECCA-4241-9166-5FA6AFBB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5623560"/>
            <a:ext cx="2377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B050EF52-6784-41B4-AB40-602BD47E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5623560"/>
            <a:ext cx="109728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E7B1AD1A-AA1F-42C0-9F1A-03BD719B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5769864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완화 이후</a:t>
            </a:r>
            <a:endParaRPr sz="12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4672624-6927-4FD8-9A8B-4CD3FE3D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6135624"/>
            <a:ext cx="2029968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2025년 이후 장기·단기 구간의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relative repricing 확인</a:t>
            </a:r>
            <a:endParaRPr sz="8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454B031-869E-41D2-9056-57D73E29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302752"/>
            <a:ext cx="8138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5" i="1">
                <a:solidFill>
                  <a:srgbClr val="788695"/>
                </a:solidFill>
                <a:latin typeface="Noto Sans CJK KR"/>
                <a:ea typeface="Noto Sans CJK KR"/>
                <a:cs typeface="Noto Sans CJK KR"/>
              </a:rPr>
              <a:t>Source: 한국은행 ECOS 817Y002 — 010200000(국고채 3Y), 010210000(국고채 10Y), 2022.01.03–2026.06.05. 본 조 계산.</a:t>
            </a:r>
            <a:endParaRPr sz="635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EC0A131-E17A-4585-A5A5-AD3F2195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8595360"/>
            <a:ext cx="8366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D2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52A56A5-24D3-4602-B050-7ACB352B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723376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KTB 3s10s · GAMMA</a:t>
            </a:r>
            <a:endParaRPr sz="82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E54C072C-E0DE-41A1-A004-F08360CD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872337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5 / 15</a:t>
            </a:r>
            <a:endParaRPr sz="820"/>
          </a:p>
        </p:txBody>
      </p:sp>
      <p:pic>
        <p:nvPicPr>
          <p:cNvPr id="50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4d2ab937846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944" y="2137350"/>
            <a:ext cx="7763256" cy="289419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927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CFF879D-01FF-40F7-B47F-B1DFCC07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12700">
            <a:solidFill>
              <a:srgbClr val="203F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138B137-6D60-41C1-86C6-5AAA735D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"/>
            <a:ext cx="7269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KTB 3s10s: spread direction을 본다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45CB3BC-57F0-4069-AEE7-419E7516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786384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9F4"/>
                </a:solidFill>
                <a:latin typeface="Noto Sans CJK KR"/>
                <a:ea typeface="Noto Sans CJK KR"/>
                <a:cs typeface="Noto Sans CJK KR"/>
              </a:rPr>
              <a:t>3s10s = KTB 10Y - KTB 3Y · widening = steepening, narrowing = flattening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0FE3AA-40B6-4DDC-A8DF-DEBC86D2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74320"/>
            <a:ext cx="804672" cy="347472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016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EB27DB9-2C9F-493E-A3A9-11B8C36E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356616"/>
            <a:ext cx="69494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GAMMA</a:t>
            </a:r>
            <a:endParaRPr sz="83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904706F-8F54-42B8-9D1A-66C03A59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804672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EE8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AA7B5">
                <a:alpha val="13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8F45AD6-8BF4-479A-8D8C-30F49877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68249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그림 2. KTB 3s10s 스프레드 추이</a:t>
            </a:r>
            <a:endParaRPr sz="10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4BDBFE4-4E21-42C3-8D7D-D9132EE1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74920"/>
            <a:ext cx="233172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CA0F-9182-432D-B074-2D7DAA6D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74920"/>
            <a:ext cx="109728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5BF"/>
          </a:solidFill>
          <a:ln xmlns:a="http://schemas.openxmlformats.org/drawingml/2006/main" w="12700">
            <a:solidFill>
              <a:srgbClr val="2D85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967C546-210B-4D92-B878-398227AD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221224"/>
            <a:ext cx="20116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정의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07359B5-31CB-43D4-B6ED-3EFA7B90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586984"/>
            <a:ext cx="1984248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latin typeface="Noto Sans CJK KR"/>
                <a:ea typeface="Noto Sans CJK KR"/>
                <a:cs typeface="Noto Sans CJK KR"/>
              </a:rPr>
              <a:t>3s10s = 10Y − 3Y</a:t>
            </a:r>
            <a:endParaRPr sz="860"/>
          </a:p>
          <a:p xmlns:a="http://schemas.openxmlformats.org/drawingml/2006/main">
            <a:r>
              <a:rPr sz="1050">
                <a:latin typeface="Noto Sans CJK KR"/>
                <a:ea typeface="Noto Sans CJK KR"/>
                <a:cs typeface="Noto Sans CJK KR"/>
              </a:rPr>
              <a:t>0bp below = inversion임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14C69D5-C641-45BD-916C-469225AD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5074920"/>
            <a:ext cx="233172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CA87E30-0F3B-4493-9018-6ACE6198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5074920"/>
            <a:ext cx="109728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12700">
            <a:solidFill>
              <a:srgbClr val="2AA87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27AC558-5C50-40D5-946B-085E96DB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5221224"/>
            <a:ext cx="20116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해석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DA0E176-4304-406E-BFA4-B9B6A16F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5586984"/>
            <a:ext cx="1984248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spread widening → steepening</a:t>
            </a:r>
            <a:endParaRPr sz="86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spread narrowing → flattening</a:t>
            </a:r>
            <a:endParaRPr sz="86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6E1FADB-A4EC-413D-8B58-E388A72B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5074920"/>
            <a:ext cx="233172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742B4865-02EA-4650-83B0-781E9F8B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5074920"/>
            <a:ext cx="109728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83589F3-3878-4CBE-8306-C9C2B907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5221224"/>
            <a:ext cx="20116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주의</a:t>
            </a:r>
            <a:endParaRPr sz="12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5EAB410-B1B0-4B94-A2B8-7F070885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5586984"/>
            <a:ext cx="1984248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latin typeface="Noto Sans CJK KR"/>
                <a:ea typeface="Noto Sans CJK KR"/>
                <a:cs typeface="Noto Sans CJK KR"/>
              </a:rPr>
              <a:t>정책결정 유형만으로 curve reaction 일반화 불가</a:t>
            </a:r>
            <a:endParaRPr sz="86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C54D7F1-09C5-4CDC-9831-3C26055D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7086600"/>
            <a:ext cx="7589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40" b="1">
                <a:latin typeface="Noto Sans CJK KR"/>
                <a:ea typeface="Noto Sans CJK KR"/>
                <a:cs typeface="Noto Sans CJK KR"/>
              </a:rPr>
              <a:t>핵심: yield level direction(Bull/Bear)과 spread direction(Steepener/Flattener)을 분리해서 읽는 구조임.</a:t>
            </a:r>
            <a:endParaRPr sz="114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49DCBC0-40BD-4DEA-863F-07CB377F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19288"/>
            <a:ext cx="7818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40" i="1">
                <a:latin typeface="Noto Sans CJK KR"/>
                <a:ea typeface="Noto Sans CJK KR"/>
                <a:cs typeface="Noto Sans CJK KR"/>
              </a:rPr>
              <a:t>Source: BOK ECOS 817Y002 (KTB 3Y/10Y daily). 3s10s=(10Y−3Y)×100bp. Sample: 2022.01.03–2026.06.05. Calculation: GAMMA.</a:t>
            </a:r>
            <a:endParaRPr sz="635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2488E1A-3682-4335-97FC-7E00738A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8595360"/>
            <a:ext cx="8366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D2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2628EF0-DE54-4DBB-BFA5-9B3599E0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723376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KTB 3s10s · GAMMA</a:t>
            </a:r>
            <a:endParaRPr sz="82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EAEEA744-B1D5-487F-9A6F-019DDBB0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872337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6 / 15</a:t>
            </a:r>
            <a:endParaRPr sz="820"/>
          </a:p>
        </p:txBody>
      </p:sp>
      <p:pic>
        <p:nvPicPr>
          <p:cNvPr id="52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77cc45c8945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2284636"/>
            <a:ext cx="7717536" cy="1895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8662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61E283D-512C-410D-B834-208A1C4A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12700">
            <a:solidFill>
              <a:srgbClr val="203F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8989BEC-55F3-4548-9379-7CF16AE9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"/>
            <a:ext cx="7269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핵심 결과: 평균보다 분포가 중요하다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20A2C49-E418-426B-B7F3-2051FC66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786384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9F4"/>
                </a:solidFill>
                <a:latin typeface="Noto Sans CJK KR"/>
                <a:ea typeface="Noto Sans CJK KR"/>
                <a:cs typeface="Noto Sans CJK KR"/>
              </a:rPr>
              <a:t>36개 policy events full sample에서 “3Y가 항상 더 민감하다”는 규칙은 성립하지 않음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DA869D4-BDD0-44B9-82F0-4F9BBEA4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74320"/>
            <a:ext cx="804672" cy="347472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016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AD577FA-A38F-4388-AA5B-7E3C76DA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356616"/>
            <a:ext cx="69494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GAMMA</a:t>
            </a:r>
            <a:endParaRPr sz="83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F04DE1B-51BB-46E7-98FE-67353FBE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08760"/>
            <a:ext cx="182880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EE8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8A6B3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9968EAD-965F-41EC-8EB3-CBBEDF0B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27632"/>
            <a:ext cx="168249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D85BF"/>
                </a:solidFill>
                <a:latin typeface="Noto Sans CJK KR"/>
                <a:ea typeface="Noto Sans CJK KR"/>
                <a:cs typeface="Noto Sans CJK KR"/>
              </a:rPr>
              <a:t>+0.6bp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948AA5A-EBE4-4123-ABD8-C66F9D9D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112264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D+1 3s10s 평균</a:t>
            </a:r>
            <a:endParaRPr sz="73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324A1FF-DD45-4B11-90B3-7203B403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508760"/>
            <a:ext cx="182880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EE8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8A6B3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2EE12F7-564E-4300-B7F6-1B620627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32" y="1627632"/>
            <a:ext cx="168249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D85BF"/>
                </a:solidFill>
                <a:latin typeface="Noto Sans CJK KR"/>
                <a:ea typeface="Noto Sans CJK KR"/>
                <a:cs typeface="Noto Sans CJK KR"/>
              </a:rPr>
              <a:t>+0.4bp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E6869C9-7B51-413F-B552-3B08B25E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112264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D+1 3s10s 중앙값</a:t>
            </a:r>
            <a:endParaRPr sz="73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7E74D65-7FB0-41E9-82E1-BAB6B2B7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508760"/>
            <a:ext cx="182880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EE8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8A6B3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4D186E6-E480-43EC-84A4-09C8BC06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27632"/>
            <a:ext cx="168249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AA876"/>
                </a:solidFill>
                <a:latin typeface="Noto Sans CJK KR"/>
                <a:ea typeface="Noto Sans CJK KR"/>
                <a:cs typeface="Noto Sans CJK KR"/>
              </a:rPr>
              <a:t>19 / 36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70D76E0-D0FF-4664-A356-838CFA13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112264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D+1 steepening</a:t>
            </a:r>
            <a:endParaRPr sz="73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F7C60DD-032C-4AE4-9CFA-55F5F8E3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508760"/>
            <a:ext cx="169164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EE8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8A6B3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B73A403-4371-4F9C-A3D8-5993000F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1627632"/>
            <a:ext cx="154533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28C28"/>
                </a:solidFill>
                <a:latin typeface="Noto Sans CJK KR"/>
                <a:ea typeface="Noto Sans CJK KR"/>
                <a:cs typeface="Noto Sans CJK KR"/>
              </a:rPr>
              <a:t>21 / 36</a:t>
            </a:r>
            <a:endParaRPr sz="1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48A1E5-23DE-46A9-BA84-9776B12D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2264"/>
            <a:ext cx="1508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|Δ3Y| &gt; |Δ10Y|</a:t>
            </a:r>
            <a:endParaRPr sz="73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50DFD01-CEDF-4516-A8DE-0F7C45A2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63240"/>
            <a:ext cx="10972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CB477B3-230A-4A27-9971-6E88C0EF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099816"/>
            <a:ext cx="10424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결정</a:t>
            </a:r>
            <a:endParaRPr sz="84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FC7ACDA-FC25-43B6-8B2E-BF1DA9FE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63240"/>
            <a:ext cx="640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61CA6F0-65BF-4914-95E2-3E4B230B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3099816"/>
            <a:ext cx="5852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N</a:t>
            </a:r>
            <a:endParaRPr sz="84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8949D83-65C2-47E0-BD6A-79FA9268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063240"/>
            <a:ext cx="13258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DC85151-8777-4784-B85E-E73E176F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3099816"/>
            <a:ext cx="12710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D+1 평균</a:t>
            </a:r>
            <a:endParaRPr sz="84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D111DD4-A4A6-4DE4-9D5C-A17AE25C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063240"/>
            <a:ext cx="13258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9A72E7F-12A5-438E-B2F9-5F87011A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3099816"/>
            <a:ext cx="12710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D+1 중앙값</a:t>
            </a:r>
            <a:endParaRPr sz="84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13A57E0-B9CE-4147-B4CD-B9BDEBA6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063240"/>
            <a:ext cx="13258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6BA9A82-6EDD-4253-8FD0-2FE652AC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3099816"/>
            <a:ext cx="12710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D+5 평균</a:t>
            </a:r>
            <a:endParaRPr sz="84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FCF4DBE-45C9-4499-8785-D99E025A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063240"/>
            <a:ext cx="141732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F60D044-E5FC-482A-A982-2DE5C52A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3099816"/>
            <a:ext cx="13624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D+5 중앙값</a:t>
            </a:r>
            <a:endParaRPr sz="84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7368B1C-1338-4EB9-B36A-AC64D64E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92424"/>
            <a:ext cx="10972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CBE13B8-A58C-41D6-B317-FF7EF530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429000"/>
            <a:ext cx="10424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인상</a:t>
            </a:r>
            <a:endParaRPr sz="84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C0F78ED-2302-420F-9FB8-06398923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92424"/>
            <a:ext cx="640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A2C4426-4EF4-4EE4-BF54-40A0A812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3429000"/>
            <a:ext cx="5852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8</a:t>
            </a:r>
            <a:endParaRPr sz="84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214F68B5-9005-46DE-B735-4C406CA2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392424"/>
            <a:ext cx="13258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38019600-F9F4-478D-B454-27F372CF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3429000"/>
            <a:ext cx="12710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+1.7</a:t>
            </a:r>
            <a:endParaRPr sz="84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6D477295-A53D-4DD6-82C5-5F8CA567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392424"/>
            <a:ext cx="13258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D45006C-C273-4296-9385-FBC6CD6B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3429000"/>
            <a:ext cx="12710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+0.9</a:t>
            </a:r>
            <a:endParaRPr sz="84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4920CD7F-F64D-4AA3-974A-6F06A191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392424"/>
            <a:ext cx="13258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D4245155-EA31-46C9-9AE8-08CFEF42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3429000"/>
            <a:ext cx="12710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+2.5</a:t>
            </a:r>
            <a:endParaRPr sz="84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FB31D1A-892A-421F-A5C0-93642255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392424"/>
            <a:ext cx="141732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B582D760-9AC9-4BDE-A7F8-8408135B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3429000"/>
            <a:ext cx="13624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+3.0</a:t>
            </a:r>
            <a:endParaRPr sz="84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314FFFFD-7AE5-447C-8DCB-F8EF0E16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21608"/>
            <a:ext cx="10972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4DBE850D-8812-4F2E-A21A-272D9985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758184"/>
            <a:ext cx="10424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동결</a:t>
            </a:r>
            <a:endParaRPr sz="84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0B442D88-E4B1-4483-BDF3-E1987648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21608"/>
            <a:ext cx="640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1CF8918F-010E-42DB-94EE-295FFB73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3758184"/>
            <a:ext cx="5852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24</a:t>
            </a:r>
            <a:endParaRPr sz="84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C8F92DCF-DAAB-4FE7-9B0D-C25CBA40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721608"/>
            <a:ext cx="13258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6DA1CEEA-6ED3-481D-BBEB-C049C964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3758184"/>
            <a:ext cx="12710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+0.3</a:t>
            </a:r>
            <a:endParaRPr sz="84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F59FFCAF-A9C6-433B-9D25-3D726673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721608"/>
            <a:ext cx="13258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A392B67-1B88-4750-A9A8-6BDB7B11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3758184"/>
            <a:ext cx="12710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+0.1</a:t>
            </a:r>
            <a:endParaRPr sz="840"/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97D5C15D-F350-4719-8747-36BBED35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721608"/>
            <a:ext cx="13258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05EC500E-8975-4C6E-9063-E0039B80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3758184"/>
            <a:ext cx="12710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+0.9</a:t>
            </a:r>
            <a:endParaRPr sz="84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02597B4A-1720-40F4-908B-F665DA99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721608"/>
            <a:ext cx="141732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56BF91D2-6A00-40BF-A27E-11D341AF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3758184"/>
            <a:ext cx="13624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+0.9</a:t>
            </a:r>
            <a:endParaRPr sz="840"/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18F58E9D-71AB-48B4-8C52-5B8422D1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050792"/>
            <a:ext cx="10972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ED7083D9-8F9B-4977-A4CE-E85B8A04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087368"/>
            <a:ext cx="10424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인하</a:t>
            </a:r>
            <a:endParaRPr sz="840"/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65136F14-D8ED-44DE-A90E-50EBC22D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50792"/>
            <a:ext cx="640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84065F3B-FA1C-4162-A184-E7FEA676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4087368"/>
            <a:ext cx="5852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4</a:t>
            </a:r>
            <a:endParaRPr sz="840"/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E88BB9BC-0336-460B-B90E-E8E145AA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4050792"/>
            <a:ext cx="13258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831DCC7E-FDEC-40C8-B6C5-5D59DBA9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4087368"/>
            <a:ext cx="12710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+0.5</a:t>
            </a:r>
            <a:endParaRPr sz="840"/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B4A99896-535F-49A2-96C9-1CD316B9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050792"/>
            <a:ext cx="13258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DF9F964D-6F80-439D-8716-FF285C45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4087368"/>
            <a:ext cx="12710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+1.4</a:t>
            </a:r>
            <a:endParaRPr sz="840"/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004CAEAB-30AE-4BD3-B0FB-093A66CC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4050792"/>
            <a:ext cx="13258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88D6A1F4-A63E-4222-AA25-FACEF207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4087368"/>
            <a:ext cx="12710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+2.4</a:t>
            </a:r>
            <a:endParaRPr sz="840"/>
          </a:p>
        </p:txBody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06244477-350F-4A7A-96E3-EC0F19A7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50792"/>
            <a:ext cx="141732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DDDD9BF7-2998-4DE3-B94C-C18BB5CD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4087368"/>
            <a:ext cx="13624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+1.7</a:t>
            </a:r>
            <a:endParaRPr sz="840"/>
          </a:p>
        </p:txBody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B086C755-C882-47A9-B5D4-65BEB06F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79976"/>
            <a:ext cx="10972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E92793BA-F884-4B9C-BDEA-6165A82A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416552"/>
            <a:ext cx="10424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전체</a:t>
            </a:r>
            <a:endParaRPr sz="840"/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7141CD62-F9FE-4137-8EEF-6841E0C3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79976"/>
            <a:ext cx="640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Text 68">
            <a:extLst xmlns:a="http://schemas.openxmlformats.org/drawingml/2006/main">
              <a:ext uri="{FF2B5EF4-FFF2-40B4-BE49-F238E27FC236}">
                <a16:creationId xmlns:a16="http://schemas.microsoft.com/office/drawing/2014/main" id="{6C1EE4BD-0068-4409-ABBC-74983E7D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4416552"/>
            <a:ext cx="5852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36</a:t>
            </a:r>
            <a:endParaRPr sz="840"/>
          </a:p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85772287-B882-4B66-9FD4-FF657CA8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4379976"/>
            <a:ext cx="13258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DC1B3D42-0731-45CC-B287-97A2A44D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4416552"/>
            <a:ext cx="12710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+0.6</a:t>
            </a:r>
            <a:endParaRPr sz="840"/>
          </a:p>
        </p:txBody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7E32B11E-00C2-4BC5-8029-2C40485B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379976"/>
            <a:ext cx="13258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084EBEDD-AC23-48DA-92EF-3C9ABEFA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4416552"/>
            <a:ext cx="12710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+0.4</a:t>
            </a:r>
            <a:endParaRPr sz="840"/>
          </a:p>
        </p:txBody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68EF6545-2994-4688-B71D-E02E6EC2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4379976"/>
            <a:ext cx="13258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6" name="Text 74">
            <a:extLst xmlns:a="http://schemas.openxmlformats.org/drawingml/2006/main">
              <a:ext uri="{FF2B5EF4-FFF2-40B4-BE49-F238E27FC236}">
                <a16:creationId xmlns:a16="http://schemas.microsoft.com/office/drawing/2014/main" id="{A5FD7EE1-2D00-4289-BF5F-57810031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4416552"/>
            <a:ext cx="12710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+1.4</a:t>
            </a:r>
            <a:endParaRPr sz="840"/>
          </a:p>
        </p:txBody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759163CF-ADBC-442D-B511-5DBFC7D8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379976"/>
            <a:ext cx="141732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FA67FF73-962C-4943-854F-4DC9863D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4416552"/>
            <a:ext cx="13624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+1.0</a:t>
            </a:r>
            <a:endParaRPr sz="840"/>
          </a:p>
        </p:txBody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8380203F-C4B8-425D-ADDC-C6DC72ED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4960"/>
            <a:ext cx="731520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12700">
            <a:solidFill>
              <a:srgbClr val="F0C38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0F005995-6395-452C-82C5-75B376F3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4960"/>
            <a:ext cx="109728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67D14ECB-7D09-4A69-B7AD-C74757A7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5541264"/>
            <a:ext cx="6995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해석 포인트</a:t>
            </a:r>
            <a:endParaRPr sz="1200"/>
          </a:p>
        </p:txBody>
      </p:sp>
      <p:sp>
        <p:nvSpPr>
          <p:cNvPr id="82" name="Text 80">
            <a:extLst xmlns:a="http://schemas.openxmlformats.org/drawingml/2006/main">
              <a:ext uri="{FF2B5EF4-FFF2-40B4-BE49-F238E27FC236}">
                <a16:creationId xmlns:a16="http://schemas.microsoft.com/office/drawing/2014/main" id="{49E7B74E-22E1-4824-A9F5-740531B7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5907024"/>
            <a:ext cx="6967728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latin typeface="Noto Sans CJK KR"/>
                <a:ea typeface="Noto Sans CJK KR"/>
                <a:cs typeface="Noto Sans CJK KR"/>
              </a:rPr>
              <a:t>결정 유형만으로 커브 방향을 예측할 수 없다. 선반영 가능성과 대외금리·수급은 거래 전 별도 점검이 필요하다.</a:t>
            </a:r>
            <a:endParaRPr sz="1020"/>
          </a:p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7C0662E7-7C1D-4D54-AB10-9CEE6FC1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302752"/>
            <a:ext cx="8138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5" i="1">
                <a:solidFill>
                  <a:srgbClr val="788695"/>
                </a:solidFill>
                <a:latin typeface="Noto Sans CJK KR"/>
                <a:ea typeface="Noto Sans CJK KR"/>
                <a:cs typeface="Noto Sans CJK KR"/>
              </a:rPr>
              <a:t>Source: 한국은행 Monetary Policy Decisions; ECOS 817Y002. 2022.01.14–2026.05.28 policy decisions 36회 full sample, D-1 대비 D+1·D+5 누적변화. 본 조 계산.</a:t>
            </a:r>
            <a:endParaRPr sz="635"/>
          </a:p>
        </p:txBody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43EBFA08-52AC-44DE-BFDA-2582B77C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8595360"/>
            <a:ext cx="8366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D2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" name="Text 83">
            <a:extLst xmlns:a="http://schemas.openxmlformats.org/drawingml/2006/main">
              <a:ext uri="{FF2B5EF4-FFF2-40B4-BE49-F238E27FC236}">
                <a16:creationId xmlns:a16="http://schemas.microsoft.com/office/drawing/2014/main" id="{2ED3F60C-6AF8-4022-8846-1B851F37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723376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KTB 3s10s · GAMMA</a:t>
            </a:r>
            <a:endParaRPr sz="820"/>
          </a:p>
        </p:txBody>
      </p:sp>
      <p:sp>
        <p:nvSpPr>
          <p:cNvPr id="86" name="Text 84">
            <a:extLst xmlns:a="http://schemas.openxmlformats.org/drawingml/2006/main">
              <a:ext uri="{FF2B5EF4-FFF2-40B4-BE49-F238E27FC236}">
                <a16:creationId xmlns:a16="http://schemas.microsoft.com/office/drawing/2014/main" id="{60E182E0-6D8C-4AEB-8C86-B217330B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872337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7 / 15</a:t>
            </a:r>
            <a:endParaRPr sz="820"/>
          </a:p>
        </p:txBody>
      </p:sp>
    </p:spTree>
    <p:extLst>
      <p:ext uri="{BB962C8B-B14F-4D97-AF65-F5344CB8AC3E}">
        <p14:creationId xmlns:p14="http://schemas.microsoft.com/office/powerpoint/2010/main" val="9760929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94D50A7-4737-49C5-AFB7-EEC4A964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12700">
            <a:solidFill>
              <a:srgbClr val="203F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945460-E506-4534-B0B1-D5758245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"/>
            <a:ext cx="7269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Event Scatter: 3Y vs 10Y 반응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3767F62-8506-4BEC-801E-E8676F84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786384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9F4"/>
                </a:solidFill>
                <a:latin typeface="Noto Sans CJK KR"/>
                <a:ea typeface="Noto Sans CJK KR"/>
                <a:cs typeface="Noto Sans CJK KR"/>
              </a:rPr>
              <a:t>Above 45° line: Δ10Y &gt; Δ3Y → 3s10s steepening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E189C74-F9CA-4381-A87C-431B38B9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74320"/>
            <a:ext cx="804672" cy="347472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016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3257AE9-BE6F-4717-83D7-9B310A7C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356616"/>
            <a:ext cx="69494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GAMMA</a:t>
            </a:r>
            <a:endParaRPr sz="83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50B14A7-58E9-4C2D-8D21-7BC6F180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44752"/>
            <a:ext cx="8001000" cy="4983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EE8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AA7B5">
                <a:alpha val="13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765EAFD-49A7-4749-9F55-F446ECF7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54480"/>
            <a:ext cx="7726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그림 3. 금통위별 D+1 Δ3Y vs Δ10Y</a:t>
            </a:r>
            <a:endParaRPr sz="10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DD872FD-397B-4E3F-95B4-7073BDD1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720840"/>
            <a:ext cx="233172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F56C28E-9F08-454E-B9E1-4D7BC5E1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720840"/>
            <a:ext cx="10972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12700">
            <a:solidFill>
              <a:srgbClr val="2AA87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1ECA66-51A9-4E7F-B554-29C066B3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6867144"/>
            <a:ext cx="20116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Above 45° line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7D4AE5C-746A-46EA-9D47-B81C6266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7232904"/>
            <a:ext cx="1984248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Δ10Y &gt; Δ3Y → 3s10s 확대 (steepening)</a:t>
            </a:r>
            <a:endParaRPr sz="78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F047737-7DFD-4781-A26E-6A6B3087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6720840"/>
            <a:ext cx="233172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4438A34-6970-411A-9B0E-3BCA1DB2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6720840"/>
            <a:ext cx="10972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745"/>
          </a:solidFill>
          <a:ln xmlns:a="http://schemas.openxmlformats.org/drawingml/2006/main" w="12700">
            <a:solidFill>
              <a:srgbClr val="D6574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69ED94B-5FA5-4310-8337-BFF49D8C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6867144"/>
            <a:ext cx="20116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Below 45° line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5C94749-CED5-4FC1-AF3E-982F50DA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7232904"/>
            <a:ext cx="1984248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Δ10Y &lt; Δ3Y → 3s10s 축소 (flattening)</a:t>
            </a:r>
            <a:endParaRPr sz="78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9C44C42-59CE-4918-9FC9-82D460C0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720840"/>
            <a:ext cx="233172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AEE8A254-A9E7-4820-BAA7-E6824C17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720840"/>
            <a:ext cx="10972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5BF"/>
          </a:solidFill>
          <a:ln xmlns:a="http://schemas.openxmlformats.org/drawingml/2006/main" w="12700">
            <a:solidFill>
              <a:srgbClr val="2D85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3D57E80-8447-4D62-A948-1C19A7F4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6867144"/>
            <a:ext cx="20116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Decision color</a:t>
            </a:r>
            <a:endParaRPr sz="12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26E4C0D-5B0F-4332-8F89-AB2169CB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7232904"/>
            <a:ext cx="1984248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latin typeface="Noto Sans CJK KR"/>
                <a:ea typeface="Noto Sans CJK KR"/>
                <a:cs typeface="Noto Sans CJK KR"/>
              </a:rPr>
              <a:t>인상·동결·인하 모두 양쪽에 분포해 결정 유형만으로 방향을 설명하기 어렵다.</a:t>
            </a:r>
            <a:endParaRPr sz="78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9669A98-9195-46FC-BEE2-DE1A8FAB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302752"/>
            <a:ext cx="8138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5" i="1">
                <a:solidFill>
                  <a:srgbClr val="788695"/>
                </a:solidFill>
                <a:latin typeface="Noto Sans CJK KR"/>
                <a:ea typeface="Noto Sans CJK KR"/>
                <a:cs typeface="Noto Sans CJK KR"/>
              </a:rPr>
              <a:t>Source: 한국은행 Monetary Policy Decisions; ECOS 817Y002. 각 점은 policy event별 D-1→D+1 KTB 3Y·10Y 변화(bp). 45도선은 Δ10Y=Δ3Y. 본 조 계산.</a:t>
            </a:r>
            <a:endParaRPr sz="635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FB9970BF-819A-4360-91E1-1BD2A3FA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8595360"/>
            <a:ext cx="8366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D2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C80808B-3C5E-4DEC-99AB-B7DCAF38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723376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KTB 3s10s · GAMMA</a:t>
            </a:r>
            <a:endParaRPr sz="82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3E7E6F5-A702-4E07-9686-BCD2D218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872337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8 / 15</a:t>
            </a:r>
            <a:endParaRPr sz="820"/>
          </a:p>
        </p:txBody>
      </p:sp>
      <p:pic>
        <p:nvPicPr>
          <p:cNvPr id="50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57ae82da643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389" y="1956816"/>
            <a:ext cx="7536942" cy="43068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906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43CF4AB-3E74-44A0-A690-3717D024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12700">
            <a:solidFill>
              <a:srgbClr val="203F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EDBF6B5-FC81-4F91-A6E3-23AAECCA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"/>
            <a:ext cx="7269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Case A — 2024.10.11 인하와 3년물 상대강세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B6D93B1-B99E-44EE-959F-8577B42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786384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9F4"/>
                </a:solidFill>
                <a:latin typeface="Noto Sans CJK KR"/>
                <a:ea typeface="Noto Sans CJK KR"/>
                <a:cs typeface="Noto Sans CJK KR"/>
              </a:rPr>
              <a:t>완화 방향과 부합하나, already priced-in 정도는 직접 측정하지 않음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8A54506-CFF4-4804-AA3A-599A752C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74320"/>
            <a:ext cx="804672" cy="347472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016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AC95B86-1408-4DC7-A0B8-6451524D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356616"/>
            <a:ext cx="69494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GAMMA</a:t>
            </a:r>
            <a:endParaRPr sz="83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D8B5E7A-FC8A-4AAC-8EFD-F4A53A2A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72768"/>
            <a:ext cx="7818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E7DB88C-4876-43CF-B35E-B00094B7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72768"/>
            <a:ext cx="109728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12700">
            <a:solidFill>
              <a:srgbClr val="2AA87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D81DB45-CD93-485D-8042-5CAE07B0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719072"/>
            <a:ext cx="7498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Setup / decision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CBB0138-9DD9-4F81-9F19-29D77EE6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084832"/>
            <a:ext cx="747064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D-1: KTB 3Y 2.962%, 10Y 3.088%. 3.50% High-for-long hold 이후 3.25%로 인하. 완화 전환과 금융안정 경계가 공존.</a:t>
            </a:r>
            <a:endParaRPr sz="9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375B720-D8E0-4638-B374-DD3DF2D7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14630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07403FE-4057-4515-97A6-4691ECE2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916936"/>
            <a:ext cx="140817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구간</a:t>
            </a:r>
            <a:endParaRPr sz="84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928D3C4-64FF-413C-9AB2-670C5CC3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880360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FE73FAF-38D4-44F7-8E3C-907B9EB4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916936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3Y</a:t>
            </a:r>
            <a:endParaRPr sz="84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D6ED4B2-D8D0-4200-BE3E-EDD5146A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880360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1403803-BDFD-4034-B5C9-EF61077C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916936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10Y</a:t>
            </a:r>
            <a:endParaRPr sz="84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0FF71C8-8138-4F92-8616-DF946D74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880360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F1A67B5-F086-4BD8-8C63-A75216A8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2916936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3s10s</a:t>
            </a:r>
            <a:endParaRPr sz="84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6D3D0F7-69F2-4FAB-8DEA-8BD9D5F3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880360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690DBD5-A21B-450F-9459-961920FC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2916936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UST2</a:t>
            </a:r>
            <a:endParaRPr sz="84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4BF7242-851D-4FEC-A53F-E197DE88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80360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5F7BD37-AA53-4CD3-92B8-86EF376E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916936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UST10</a:t>
            </a:r>
            <a:endParaRPr sz="84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4A1D6AD-C7A0-40D9-907D-7F3F34D3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880360"/>
            <a:ext cx="12801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0BA567E-C309-429E-84E1-9959A39D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2916936"/>
            <a:ext cx="122529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USD/KRW</a:t>
            </a:r>
            <a:endParaRPr sz="84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B6AB453-5EDD-41AB-88ED-E18F4C26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8688"/>
            <a:ext cx="14630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16E499A-2B18-4528-82AA-C2A2272F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255264"/>
            <a:ext cx="140817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D+1 · 10-14</a:t>
            </a:r>
            <a:endParaRPr sz="84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12752EF4-AC1A-46C7-9CA1-20B84625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218688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B01C405-BA07-4F2A-8888-1774979B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255264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-2.4</a:t>
            </a:r>
            <a:endParaRPr sz="84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BD303-616D-4ABF-9ECD-ADF19BE4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218688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CD1A24D-E6C4-495E-92A3-71E245AF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3255264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-0.1</a:t>
            </a:r>
            <a:endParaRPr sz="84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BE8CB69F-A465-489F-8633-383833FF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218688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6E2BFD1-BFE5-46AB-A6DC-1C4B1168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3255264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+2.3</a:t>
            </a:r>
            <a:endParaRPr sz="84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719B332A-8145-4CB1-9452-CF56EF4B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218688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49838B0E-0BA3-4815-B0B6-F30D47E2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3255264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-4.0</a:t>
            </a:r>
            <a:endParaRPr sz="84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90A7606C-8576-43E1-8F57-9C0680AB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18688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97A507-9A6F-4D36-B274-2DE4DA0D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55264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+2.0</a:t>
            </a:r>
            <a:endParaRPr sz="84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EACCB88C-2E82-4DF9-B447-80E0B818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218688"/>
            <a:ext cx="12801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43A3BF95-8960-421D-BF20-966722C0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3255264"/>
            <a:ext cx="122529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+4.7</a:t>
            </a:r>
            <a:endParaRPr sz="84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4F01CCD-933F-47EB-9482-76A0494C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57016"/>
            <a:ext cx="14630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D7475644-5784-4FD9-B98E-835337D8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593592"/>
            <a:ext cx="140817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D+5 · 10-18</a:t>
            </a:r>
            <a:endParaRPr sz="84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F5F7670-EF88-43C0-930A-253D6358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557016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87F0267-DFA1-4F7E-9680-996BDBFC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593592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-5.4</a:t>
            </a:r>
            <a:endParaRPr sz="84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171EE59-B568-4288-9572-3FCF974F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557016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1B7D2E9B-C562-41BE-A2CF-39743455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3593592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-1.6</a:t>
            </a:r>
            <a:endParaRPr sz="84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5156C78-D31F-4B0F-8CCC-38B8C0FE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557016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3F3CFBE6-E4E7-44FA-9250-EAF8D6E8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3593592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+3.8</a:t>
            </a:r>
            <a:endParaRPr sz="84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F9EB95ED-A71F-4992-8C07-3C097098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557016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32AE7F5C-1083-4734-9C3B-BD68E616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3593592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-3.0</a:t>
            </a:r>
            <a:endParaRPr sz="84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91D7E576-A5CE-40CB-B30F-46D91E04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557016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81FB365B-76DB-4E6F-817E-C738F680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593592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+3.0</a:t>
            </a:r>
            <a:endParaRPr sz="840"/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F0D11006-950A-4859-BE8D-CAFA7545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557016"/>
            <a:ext cx="12801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E9DC0BC4-652A-490F-9303-863F71E9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3593592"/>
            <a:ext cx="122529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+25.0</a:t>
            </a:r>
            <a:endParaRPr sz="84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AA4BD5DB-88BF-488F-8B36-BE92A870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342900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B55910D0-37B8-40AC-A87E-2660E9E0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09728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12700">
            <a:solidFill>
              <a:srgbClr val="2AA87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3A80E01E-7FD8-4D7B-8462-3A872E38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718304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Curve interpretation</a:t>
            </a:r>
            <a:endParaRPr sz="1200"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18EADDF2-8183-4BCB-99BA-ACEA5881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5084064"/>
            <a:ext cx="308152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D+1과 D+5 모두 3년물 하락폭이 10년물보다 컸다. 커브는 Bull Steepener로 분류된다.</a:t>
            </a:r>
            <a:endParaRPr sz="940"/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46B79BB8-2708-448E-B28F-AECF753C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72000"/>
            <a:ext cx="342900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F6AECCC9-9E11-4A72-B2BA-73E173A0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72000"/>
            <a:ext cx="109728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0D3DEBC4-301D-4E5D-B66A-1FC9E98F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68" y="4718304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Cross-market check</a:t>
            </a:r>
            <a:endParaRPr sz="1200"/>
          </a:p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3AABA48D-0E27-4510-9AD8-6806235F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68" y="5084064"/>
            <a:ext cx="308152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UST2는 하락했지만 UST10은 소폭 상승했다. 미국 금리를 단일 충격으로 설명하기 어렵다.</a:t>
            </a:r>
            <a:endParaRPr sz="940"/>
          </a:p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BB74FD01-5FD5-44DD-BF81-B02EA160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720840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latin typeface="Noto Sans CJK KR"/>
                <a:ea typeface="Noto Sans CJK KR"/>
                <a:cs typeface="Noto Sans CJK KR"/>
              </a:rPr>
              <a:t>D0 curve +1.2bp · Case A는 “3Y Long / 10Y Short” illustrative curve exposure에 유리했던 사례임</a:t>
            </a:r>
            <a:endParaRPr sz="1040"/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6F5E7A9A-FBF5-489D-9EA7-2EF94C00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302752"/>
            <a:ext cx="8138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5" i="1">
                <a:solidFill>
                  <a:srgbClr val="788695"/>
                </a:solidFill>
                <a:latin typeface="Noto Sans CJK KR"/>
                <a:ea typeface="Noto Sans CJK KR"/>
                <a:cs typeface="Noto Sans CJK KR"/>
              </a:rPr>
              <a:t>Source: 한국은행 Monetary Policy Decision(2024.10.11)·ECOS; Federal Reserve/FRED DGS2·DGS10·DEXKOUS. 미국 지표는 한국 종가 이전 최신 유효 관측일 기준.</a:t>
            </a:r>
            <a:endParaRPr sz="635"/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ADE5D5BF-7DE8-4887-834F-A810E08A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8595360"/>
            <a:ext cx="8366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D2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947D9209-6521-4339-B19C-D0A0D49F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723376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KTB 3s10s · GAMMA</a:t>
            </a:r>
            <a:endParaRPr sz="820"/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A61B0766-0D92-4C0F-AA1B-6C4193B0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872337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9 / 15</a:t>
            </a:r>
            <a:endParaRPr sz="820"/>
          </a:p>
        </p:txBody>
      </p:sp>
    </p:spTree>
    <p:extLst>
      <p:ext uri="{BB962C8B-B14F-4D97-AF65-F5344CB8AC3E}">
        <p14:creationId xmlns:p14="http://schemas.microsoft.com/office/powerpoint/2010/main" val="14956379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E6B41A9-B973-44EB-AA91-92B1FBCE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12700">
            <a:solidFill>
              <a:srgbClr val="203F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83B4B64-8C6C-464D-A3FB-6323A5B8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"/>
            <a:ext cx="7269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Case B — 2022.01.14 긴축 방향과 Bear Flattener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64F1D3A-8C36-460B-881A-3459BC6B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786384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9F4"/>
                </a:solidFill>
                <a:latin typeface="Noto Sans CJK KR"/>
                <a:ea typeface="Noto Sans CJK KR"/>
                <a:cs typeface="Noto Sans CJK KR"/>
              </a:rPr>
              <a:t>3Y가 더 크게 sell-off하면 curve는 flattening된다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F5BA0DA-76EA-4B31-B532-AAC35D99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74320"/>
            <a:ext cx="804672" cy="347472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016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BCFF6FF-9932-4091-9091-C24A5246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356616"/>
            <a:ext cx="69494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GAMMA</a:t>
            </a:r>
            <a:endParaRPr sz="83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90A43FE-89BE-442B-8E86-74BA99B0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72768"/>
            <a:ext cx="7818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8468752-FEB1-4432-9585-CCB82993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72768"/>
            <a:ext cx="109728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745"/>
          </a:solidFill>
          <a:ln xmlns:a="http://schemas.openxmlformats.org/drawingml/2006/main" w="12700">
            <a:solidFill>
              <a:srgbClr val="D6574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6ED3A29-558A-4837-B32A-866A4654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719072"/>
            <a:ext cx="7498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Setup / decision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81078E2-1FBA-4321-A56A-17AB5C32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084832"/>
            <a:ext cx="747064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D-1: KTB 3Y 1.953%, 10Y 2.397%. 기준금리를 1.00%에서 1.25%로 인상. 물가와 금융불균형을 고려한 긴축 과정.</a:t>
            </a:r>
            <a:endParaRPr sz="9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9EAE917-019A-49E4-BABC-61912D08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14630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EE11B67-ECE7-42BD-9F93-074AFAED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916936"/>
            <a:ext cx="140817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구간</a:t>
            </a:r>
            <a:endParaRPr sz="84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177A204-A83B-4BEA-9CFF-5B164267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880360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5C28B50-6A88-4D5B-BC9B-92C30D01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916936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3Y</a:t>
            </a:r>
            <a:endParaRPr sz="84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9E5142A-731C-4363-BA84-450D491A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880360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E45E9A2-665F-49CE-AA08-A6921D3F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916936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10Y</a:t>
            </a:r>
            <a:endParaRPr sz="84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8F647A1-E489-4EBE-B453-156D0229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880360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A59FF7E-309C-41B7-910A-E00003E2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2916936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3s10s</a:t>
            </a:r>
            <a:endParaRPr sz="84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315EAD7-70B3-4789-9E33-FCCE1F37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880360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49BE5F7-F631-4473-AFE8-784A1316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2916936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UST2</a:t>
            </a:r>
            <a:endParaRPr sz="84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B169893-D626-4CC3-A5B2-DA4B4047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80360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5E68E3A-40E7-406D-9B01-7D6E712B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916936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UST10</a:t>
            </a:r>
            <a:endParaRPr sz="84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46FFA4D-850E-4D86-A305-C6988DBF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880360"/>
            <a:ext cx="12801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710E157-E3DF-40F4-995C-A2AB309C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2916936"/>
            <a:ext cx="122529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USD/KRW</a:t>
            </a:r>
            <a:endParaRPr sz="84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B328389-30FD-4C33-8401-277485F5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8688"/>
            <a:ext cx="14630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9529E38-8828-476A-A179-E3C7B70E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255264"/>
            <a:ext cx="140817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D+1 · 01-17</a:t>
            </a:r>
            <a:endParaRPr sz="84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A427326-5FB2-46F1-8F79-73BE7200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218688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816EC0A-3D20-4551-BC1A-9B52ED92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255264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+19.5</a:t>
            </a:r>
            <a:endParaRPr sz="84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9C822B1A-8855-4FCD-A089-EA334743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218688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1767FA4-9C70-4E41-B967-9CF815A8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3255264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+17.1</a:t>
            </a:r>
            <a:endParaRPr sz="84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0CCC2A23-2628-45B7-B838-5EF4799A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218688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9B68D7C6-4B82-47C5-983A-42EBFF37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3255264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-2.4</a:t>
            </a:r>
            <a:endParaRPr sz="84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E2E11800-0FB6-483A-874E-14C58AAC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218688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48F08EDF-4154-4EF7-8FA3-E96F0B15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3255264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+7.0</a:t>
            </a:r>
            <a:endParaRPr sz="84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2D8F9822-EFE3-485D-A9AD-89F2DF0D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18688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845B05B-8636-43DF-A68E-A1359CEB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55264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+4.0</a:t>
            </a:r>
            <a:endParaRPr sz="84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A04C150C-031D-4238-B4A8-7F0191E4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218688"/>
            <a:ext cx="12801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4595E765-8817-4471-BE07-B002B8C7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3255264"/>
            <a:ext cx="122529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-0.4</a:t>
            </a:r>
            <a:endParaRPr sz="84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25D4FEC8-FBEE-407B-BD2A-CA405286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57016"/>
            <a:ext cx="14630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A6A58424-C19F-4D7A-87A5-C083F675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593592"/>
            <a:ext cx="140817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D+5 · 01-21</a:t>
            </a:r>
            <a:endParaRPr sz="84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9D806D1A-E1AE-4441-AD15-FE3B7027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557016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13C494A8-059A-42BB-976E-4F9E24D1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593592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+17.9</a:t>
            </a:r>
            <a:endParaRPr sz="84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AF6E795E-B907-4A3A-B5AD-C8EE3DB4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557016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C55AFE09-4F5C-4C8D-AB6C-93D75102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3593592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+14.3</a:t>
            </a:r>
            <a:endParaRPr sz="84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7397F585-F90F-413C-A6BC-61258929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557016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60D89DD7-2BCB-4214-835B-D6283734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3593592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-3.6</a:t>
            </a:r>
            <a:endParaRPr sz="84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C400B6F5-7571-4619-808F-7B664FE3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557016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17B96038-3F04-4CE9-9890-E5F36EBA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3593592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+16.0</a:t>
            </a:r>
            <a:endParaRPr sz="84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D63B29C6-49B7-4E62-9EC0-ABCA488A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557016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984C26B-365F-4217-8ECB-15A0603C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593592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+9.0</a:t>
            </a:r>
            <a:endParaRPr sz="840"/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ED38EDB2-D64B-44B6-92B2-F997FDD5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557016"/>
            <a:ext cx="12801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1734E6AA-03B6-4AF4-A6C7-52E0E645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3593592"/>
            <a:ext cx="122529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+4.6</a:t>
            </a:r>
            <a:endParaRPr sz="84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5A7CC71-23C6-4921-B9D9-2C85E33A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342900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B083C28F-AB2B-4104-84DB-FA33E602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09728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745"/>
          </a:solidFill>
          <a:ln xmlns:a="http://schemas.openxmlformats.org/drawingml/2006/main" w="12700">
            <a:solidFill>
              <a:srgbClr val="D6574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1020C978-12D6-44C8-9D29-D21EF986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718304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Curve interpretation</a:t>
            </a:r>
            <a:endParaRPr sz="1200"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1D7E036D-C78E-4DAF-B9C3-16E482FA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5084064"/>
            <a:ext cx="308152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두 만기 금리가 모두 상승했다. 3년물 상승폭이 더 커 Bear Flattener로 분류된다.</a:t>
            </a:r>
            <a:endParaRPr sz="940"/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30AAE9DE-3749-4C7C-B3EB-1658158D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72000"/>
            <a:ext cx="342900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AF46703D-40DE-4B55-8F35-D8521AF6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72000"/>
            <a:ext cx="109728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A0C750D5-0F92-45BE-B775-C3EB0ABB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68" y="4718304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Cross-market check</a:t>
            </a:r>
            <a:endParaRPr sz="1200"/>
          </a:p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DBEE4E9D-6773-4CDE-BC91-47D829DD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68" y="5084064"/>
            <a:ext cx="308152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UST2와 UST10도 함께 상승했다. 국내 긴축과 대외금리 상승이 함께 나타났다는 점을 확인했다.</a:t>
            </a:r>
            <a:endParaRPr sz="940"/>
          </a:p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3BD547BC-DA69-4418-95C5-A0029F32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720840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latin typeface="Noto Sans CJK KR"/>
                <a:ea typeface="Noto Sans CJK KR"/>
                <a:cs typeface="Noto Sans CJK KR"/>
              </a:rPr>
              <a:t>D0 curve -3.5bp · “tightening = 항상 10Y 상승폭 우위” 같은 단순 규칙은 성립하지 않음.</a:t>
            </a:r>
            <a:endParaRPr sz="1020"/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3A1D7FE1-E8D3-4B47-AB0A-D52DDB8A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302752"/>
            <a:ext cx="8138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5" i="1">
                <a:solidFill>
                  <a:srgbClr val="788695"/>
                </a:solidFill>
                <a:latin typeface="Noto Sans CJK KR"/>
                <a:ea typeface="Noto Sans CJK KR"/>
                <a:cs typeface="Noto Sans CJK KR"/>
              </a:rPr>
              <a:t>Source: 한국은행 Monetary Policy Decision(2022.01.14)·ECOS; Federal Reserve/FRED DGS2·DGS10·DEXKOUS. market holiday는 0으로 대체하지 않고 직전 유효 관측 사용.</a:t>
            </a:r>
            <a:endParaRPr sz="635"/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ED01B8B5-71CE-4DB9-8D4A-C5749011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8595360"/>
            <a:ext cx="8366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D2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A4058169-27DE-451B-9CA9-A6CAB494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723376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KTB 3s10s · GAMMA</a:t>
            </a:r>
            <a:endParaRPr sz="820"/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AB0C19E0-2356-41AF-B340-45AECB03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872337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10 / 15</a:t>
            </a:r>
            <a:endParaRPr sz="820"/>
          </a:p>
        </p:txBody>
      </p:sp>
    </p:spTree>
    <p:extLst>
      <p:ext uri="{BB962C8B-B14F-4D97-AF65-F5344CB8AC3E}">
        <p14:creationId xmlns:p14="http://schemas.microsoft.com/office/powerpoint/2010/main" val="4957871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EB5AB4F-95F8-4023-BFBB-379B95BA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12700">
            <a:solidFill>
              <a:srgbClr val="203F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46B2F7-9D03-4DD3-B466-41D3D730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"/>
            <a:ext cx="7269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Case C — 2023.02.23 D+1과 D+5가 뒤집힌 사례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19D46E-7501-408A-88CC-A6294C78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786384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Time ordering과 external shock을 함께 확인해야 함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15960F0-E2C8-4170-B0F8-6469242A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74320"/>
            <a:ext cx="804672" cy="347472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016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E922691-929D-4D8E-BF78-C7B439D8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356616"/>
            <a:ext cx="69494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GAMMA</a:t>
            </a:r>
            <a:endParaRPr sz="83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D1081D3-2BA9-4AE8-B5A2-FA89D6BD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27048"/>
            <a:ext cx="7818120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425CA2E-9A79-490F-9ED5-5DFFEE25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27048"/>
            <a:ext cx="109728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5BF"/>
          </a:solidFill>
          <a:ln xmlns:a="http://schemas.openxmlformats.org/drawingml/2006/main" w="12700">
            <a:solidFill>
              <a:srgbClr val="2D85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EDBE23-6184-4CFA-8EC4-E870A093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673352"/>
            <a:ext cx="7498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Setup / decision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EBBE4D8-EAA2-408C-892C-C17D11A6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039112"/>
            <a:ext cx="74706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D-1: KTB 3Y 3.645%, 10Y 3.639%. 기준금리는 3.50% 동결이나 추가 인상 가능성을 열어 둠. D+1 하락이 D+5에는 상승으로 반전.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14E32B1-5EEA-4881-B158-FC26B671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2928"/>
            <a:ext cx="14630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1171C8F-375A-4B31-9220-8F026997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889504"/>
            <a:ext cx="140817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구간</a:t>
            </a:r>
            <a:endParaRPr sz="84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DF08E5B-C79A-43A5-BF6D-A89478AA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852928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6E2FB8B-D201-4D26-B12E-440C85D5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889504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3Y</a:t>
            </a:r>
            <a:endParaRPr sz="84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C9048DC-AABB-405E-9B38-ABCC617A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852928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5123613-1C09-451C-9DCE-6A45AB0F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889504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10Y</a:t>
            </a:r>
            <a:endParaRPr sz="84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C5916A4-C39E-4164-BE44-7BAA2DD4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852928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878DEB1-97F0-4624-9300-0FA12756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2889504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3s10s</a:t>
            </a:r>
            <a:endParaRPr sz="84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96C580A-E463-4301-965A-F38EE10B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852928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689CD36-7EAB-4711-80BC-5E4B9C8F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2889504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UST2</a:t>
            </a:r>
            <a:endParaRPr sz="84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C10007D-0611-4578-A29E-1ABA90D5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52928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BB326EB-2DBC-4E17-B3D0-B62FA949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889504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UST10</a:t>
            </a:r>
            <a:endParaRPr sz="84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18172223-0CC8-4119-BEAF-D06CDCC5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852928"/>
            <a:ext cx="12801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51500CA-5B56-4FCB-B16E-548B14BF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2889504"/>
            <a:ext cx="122529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USD/KRW</a:t>
            </a:r>
            <a:endParaRPr sz="84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F367DED-031A-47F4-91D1-EFEFC8DA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1256"/>
            <a:ext cx="14630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0FFB95F-4211-4C77-B30A-A414BDC9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227832"/>
            <a:ext cx="140817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D+1 · 02-24</a:t>
            </a:r>
            <a:endParaRPr sz="84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C2B5F13-42F2-4DF3-9418-4353B00C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191256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0FE6142-2F29-4F66-9D8B-85AD5801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227832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-9.0</a:t>
            </a:r>
            <a:endParaRPr sz="84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8B943F8-1D75-4973-A5A0-DE4C27AB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191256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FE34DFF-D20E-4B0F-94DF-C1B031C9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3227832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-11.4</a:t>
            </a:r>
            <a:endParaRPr sz="84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52302A5-C6BF-44A7-8397-4433E41E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191256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E324509-C5F9-471F-911A-9F3C4565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3227832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-2.4</a:t>
            </a:r>
            <a:endParaRPr sz="84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6E6EBF36-8520-42A9-BE8B-16BBD8D8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191256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0999949-186D-49E0-8C73-B2F15FFA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3227832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-1.0</a:t>
            </a:r>
            <a:endParaRPr sz="84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0D666C4-85C5-400D-A21F-015A9B07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191256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0F65D29-1FE1-40D4-BD66-58365720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-7.0</a:t>
            </a:r>
            <a:endParaRPr sz="84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898B8B34-F6A5-48AF-9FAA-83AA6483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191256"/>
            <a:ext cx="12801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8A884544-37A1-4A2E-BF09-C1BC4F9A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3227832"/>
            <a:ext cx="122529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+0.8</a:t>
            </a:r>
            <a:endParaRPr sz="84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B5E30359-EBDC-4072-96C0-5AF4907C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9584"/>
            <a:ext cx="146304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AA2BD38-4556-4D52-A125-4B23B498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566160"/>
            <a:ext cx="140817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D+5 · 03-03</a:t>
            </a:r>
            <a:endParaRPr sz="84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2AAFA98B-8365-4C27-BB60-19FB63E9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529584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058C16C5-1506-4F25-B44E-7F2E9DB6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566160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+14.6</a:t>
            </a:r>
            <a:endParaRPr sz="84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48CF90D-4219-411A-A765-54268B3B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529584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AD927002-A6C8-4880-83D5-EE3ED13F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3566160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+13.7</a:t>
            </a:r>
            <a:endParaRPr sz="84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CA0FF866-61E6-424B-BD4F-5DEE80CF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529584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932173F4-6216-4276-A9AA-11E927CC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3566160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-0.9</a:t>
            </a:r>
            <a:endParaRPr sz="84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B543045-40B2-49FF-8E59-A9684E51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529584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7CDF12A-B9FD-48F7-9571-9A5AE7B0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3566160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+22.0</a:t>
            </a:r>
            <a:endParaRPr sz="84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DE091CBE-3434-426B-BF74-24E9CB1E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529584"/>
            <a:ext cx="91440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520EFC59-E7E8-454D-B7D4-CD33CFC6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566160"/>
            <a:ext cx="85953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+13.0</a:t>
            </a:r>
            <a:endParaRPr sz="840"/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9988994D-A91D-4903-9753-F2B116F6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529584"/>
            <a:ext cx="12801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99F66F1C-D032-4DC0-A28F-2ED58519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3566160"/>
            <a:ext cx="122529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+18.0</a:t>
            </a:r>
            <a:endParaRPr sz="84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1A670D6B-BF41-47A0-A258-C91B26B9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72000"/>
            <a:ext cx="347472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862CC27C-4582-4F9E-8B5F-D160F855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72000"/>
            <a:ext cx="109728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0B4226FE-4341-449B-8104-FF7529F2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718304"/>
            <a:ext cx="31546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Time ordering</a:t>
            </a:r>
            <a:endParaRPr sz="1200"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1FEFCD42-745B-4CA1-9EB8-795533DB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084064"/>
            <a:ext cx="312724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latin typeface="Noto Sans CJK KR"/>
                <a:ea typeface="Noto Sans CJK KR"/>
                <a:cs typeface="Noto Sans CJK KR"/>
              </a:rPr>
              <a:t>미국 1월 Core PCE는 한국의 D+1 종가 이후 발표됐다. 초기 하락의 원인으로 볼 수 없다.</a:t>
            </a:r>
            <a:endParaRPr sz="890"/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F0D569B5-2210-4EF2-A9A4-0D82BBDD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72000"/>
            <a:ext cx="347472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749CCCDB-1391-4D63-9474-B8CA94AD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72000"/>
            <a:ext cx="109728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12700">
            <a:solidFill>
              <a:srgbClr val="2AA87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951AF4C0-4A85-4386-8E58-C8E42509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68" y="4718304"/>
            <a:ext cx="31546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반전 해석</a:t>
            </a:r>
            <a:endParaRPr sz="1200"/>
          </a:p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FE1085C2-DF99-410C-8E3E-3750A8D7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68" y="5084064"/>
            <a:ext cx="312724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latin typeface="Noto Sans CJK KR"/>
                <a:ea typeface="Noto Sans CJK KR"/>
                <a:cs typeface="Noto Sans CJK KR"/>
              </a:rPr>
              <a:t>D+5에는 미국 금리와 원/달러 환율이 함께 상승했다. 대외요인은 반전 후보이나 정량 귀속은 아니다.</a:t>
            </a:r>
            <a:endParaRPr sz="890"/>
          </a:p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137F9B2E-819C-4316-BF0C-D6C8DE70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720840"/>
            <a:ext cx="74980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latin typeface="Noto Sans CJK KR"/>
                <a:ea typeface="Noto Sans CJK KR"/>
                <a:cs typeface="Noto Sans CJK KR"/>
              </a:rPr>
              <a:t>핵심: 이벤트가 겹치면 “BOK 때문”으로 단정하지 않고 Domestic / External / Mixed / Unclear로 보수적으로 분류함.</a:t>
            </a:r>
            <a:endParaRPr sz="1020"/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CAF9F675-21C5-4BA9-A466-787C66A4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302752"/>
            <a:ext cx="8138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5" i="1">
                <a:solidFill>
                  <a:srgbClr val="788695"/>
                </a:solidFill>
                <a:latin typeface="Noto Sans CJK KR"/>
                <a:ea typeface="Noto Sans CJK KR"/>
                <a:cs typeface="Noto Sans CJK KR"/>
              </a:rPr>
              <a:t>Source: 한국은행 Monetary Policy Decision(2023.02.23)·ECOS; FRED DGS2·DGS10·DEXKOUS; BEA Personal Income and Outlays (2023.02.24). 본 조 time alignment.</a:t>
            </a:r>
            <a:endParaRPr sz="635"/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9E0C4CC9-15E7-40B6-B0BA-60DD6A31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8595360"/>
            <a:ext cx="8366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D2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19AB1C09-2CAB-43F8-993D-BC43722E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723376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KTB 3s10s · GAMMA</a:t>
            </a:r>
            <a:endParaRPr sz="820"/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A4F3D4A8-C960-4487-9E9B-93CD99AE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872337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11 / 15</a:t>
            </a:r>
            <a:endParaRPr sz="820"/>
          </a:p>
        </p:txBody>
      </p:sp>
    </p:spTree>
    <p:extLst>
      <p:ext uri="{BB962C8B-B14F-4D97-AF65-F5344CB8AC3E}">
        <p14:creationId xmlns:p14="http://schemas.microsoft.com/office/powerpoint/2010/main" val="19003613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D64C333-2851-4F32-90C1-6F841278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12700">
            <a:solidFill>
              <a:srgbClr val="203F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CE578B-78EB-4BAF-9C80-624BD9C4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"/>
            <a:ext cx="7269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DV01-neutral Trade Construction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8C2666E-C547-4F6D-B5E2-9B98475A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786384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동일 notional이 아니라 동일 DV01로 curve exposure를 만든다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D372E17-D633-489B-8C53-D50F4D7E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74320"/>
            <a:ext cx="804672" cy="347472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016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173D3DB-C251-4DC7-AF1B-937BEED5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356616"/>
            <a:ext cx="69494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GAMMA</a:t>
            </a:r>
            <a:endParaRPr sz="83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0A49E6F-C426-40C9-A872-55088E6E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72768"/>
            <a:ext cx="361188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DD6829F-EB6E-4E1F-B7A4-FF19B0D7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72768"/>
            <a:ext cx="10972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12700">
            <a:solidFill>
              <a:srgbClr val="2AA87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20C60B-A575-4078-9395-BAF4E6C9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19072"/>
            <a:ext cx="3291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Trade thesis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4141D0-824A-4AED-A490-38F43132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84832"/>
            <a:ext cx="3264408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완화 기대가 추가로 반영돼 3년물 금리가 10년물보다 더 크게 하락할 것으로 본다면</a:t>
            </a:r>
            <a:endParaRPr sz="940"/>
          </a:p>
          <a:p xmlns:a="http://schemas.openxmlformats.org/drawingml/2006/main">
            <a:pPr marL="0" indent="0">
              <a:buNone/>
            </a:pPr>
            <a:endParaRPr sz="94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가상 3년물 매수 · 10년물 매도</a:t>
            </a:r>
            <a:endParaRPr sz="94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BE8B31F-2603-4987-BEFB-F813175B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72768"/>
            <a:ext cx="393192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D55FD42-A760-407C-8007-287DC224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72768"/>
            <a:ext cx="10972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5BF"/>
          </a:solidFill>
          <a:ln xmlns:a="http://schemas.openxmlformats.org/drawingml/2006/main" w="12700">
            <a:solidFill>
              <a:srgbClr val="2D85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056BA6B-A99F-4ACB-97CD-0F9BD21E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719072"/>
            <a:ext cx="3611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Key formula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8041743-F14B-42F3-9565-9010F875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084832"/>
            <a:ext cx="3584448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DV01ᵢ ≈ Nᵢ × pᵢ × MDᵢ × 0.0001</a:t>
            </a:r>
            <a:endParaRPr sz="1080"/>
          </a:p>
          <a:p xmlns:a="http://schemas.openxmlformats.org/drawingml/2006/main">
            <a:pPr marL="0" indent="0">
              <a:buNone/>
            </a:pPr>
            <a:endParaRPr sz="1080"/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N₁₀ = N₃ × (p₃×MD₃)/(p₁₀×MD₁₀)</a:t>
            </a:r>
            <a:endParaRPr sz="108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9EBF439-132C-49E1-9833-F95A994A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0480"/>
            <a:ext cx="20116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BCB89C8-1F16-4ADA-AA72-F10C0593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877056"/>
            <a:ext cx="19568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구성</a:t>
            </a:r>
            <a:endParaRPr sz="86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C1C9719-1501-4036-BF8B-6857AE3C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840480"/>
            <a:ext cx="265176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6A40185-52BE-46A8-8223-C6981C48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3877056"/>
            <a:ext cx="2596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3년물 매수</a:t>
            </a:r>
            <a:endParaRPr sz="86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BA96BBB-C2F0-434B-92BD-1DFCEA4F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840480"/>
            <a:ext cx="265176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27F5B83-0EC0-449B-9AAD-69BCC654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3877056"/>
            <a:ext cx="2596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10년물 매도</a:t>
            </a:r>
            <a:endParaRPr sz="86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279C23F-707D-4464-863A-23F5F869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9664"/>
            <a:ext cx="20116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D927BF9-8C25-4BA9-A18C-4876B06A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206240"/>
            <a:ext cx="19568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액면금액</a:t>
            </a:r>
            <a:endParaRPr sz="86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B6120BD-ECCC-485B-9A01-9485979D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169664"/>
            <a:ext cx="265176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B3DDA58-3E52-4BA9-A282-5BDBD389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4206240"/>
            <a:ext cx="2596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100.000억원</a:t>
            </a:r>
            <a:endParaRPr sz="86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F34816A-AC7D-450B-A27E-50E53542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169664"/>
            <a:ext cx="265176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E2CC65D-1F69-40E5-8A8C-5DE952A5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4206240"/>
            <a:ext cx="2596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34.146억원</a:t>
            </a:r>
            <a:endParaRPr sz="86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5561549-8730-4711-9C4A-DCC42BF4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8848"/>
            <a:ext cx="20116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755A078-181D-47AB-AF0A-209AED1D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35424"/>
            <a:ext cx="19568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Modified Duration(가정)</a:t>
            </a:r>
            <a:endParaRPr sz="86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F99F20D-D268-404D-BCA2-2CF66565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498848"/>
            <a:ext cx="265176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E46BB43-9A3A-443F-9E97-2ACD073B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4535424"/>
            <a:ext cx="2596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2.8년</a:t>
            </a:r>
            <a:endParaRPr sz="86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7C91764F-58A8-4EA1-BF95-923F941E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498848"/>
            <a:ext cx="265176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4506A37-E5D2-4231-A472-B68196C5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4535424"/>
            <a:ext cx="2596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8.2년</a:t>
            </a:r>
            <a:endParaRPr sz="86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71058B44-47EA-4019-ACEB-3091925F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8032"/>
            <a:ext cx="20116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7403F05-3445-42BF-AD94-9E6F91E0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64608"/>
            <a:ext cx="19568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절대 DV01</a:t>
            </a:r>
            <a:endParaRPr sz="86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F46FF3AE-16EE-41CC-9923-CC1416EE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828032"/>
            <a:ext cx="265176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331B256-2F74-4438-BB76-18F2AB39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4864608"/>
            <a:ext cx="2596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280만원/bp</a:t>
            </a:r>
            <a:endParaRPr sz="86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E53E6E05-8BCE-4E8B-A765-E0344B09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828032"/>
            <a:ext cx="265176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7BD7EA1C-A4EA-4D20-80EF-286A6136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4864608"/>
            <a:ext cx="2596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280만원/bp</a:t>
            </a:r>
            <a:endParaRPr sz="86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96AFF945-F922-46C5-9FEB-2BD13D4C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7216"/>
            <a:ext cx="20116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AED4020C-AE3D-4310-99C5-6ABE9BB7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193792"/>
            <a:ext cx="19568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금리 +1bp 손익</a:t>
            </a:r>
            <a:endParaRPr sz="86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FE9B4551-CC05-41FD-A556-B25EFA81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157216"/>
            <a:ext cx="265176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68250E09-C828-4EFD-A21E-B30D6989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5193792"/>
            <a:ext cx="2596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-280만원</a:t>
            </a:r>
            <a:endParaRPr sz="86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CF7585AB-4C44-40BA-B76D-0570ABB4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5157216"/>
            <a:ext cx="265176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D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353C2DA2-0576-4B05-9ADA-7714E5A4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5193792"/>
            <a:ext cx="2596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+280만원</a:t>
            </a:r>
            <a:endParaRPr sz="86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2C8B20F5-41D1-4709-BD00-D96932BA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9320"/>
            <a:ext cx="34015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D5C3BA2B-A0CC-4976-8A9B-7B48B76D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9320"/>
            <a:ext cx="10972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5BF"/>
          </a:solidFill>
          <a:ln xmlns:a="http://schemas.openxmlformats.org/drawingml/2006/main" w="12700">
            <a:solidFill>
              <a:srgbClr val="2D85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222342C8-27D5-4220-8908-902CC4E1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6135624"/>
            <a:ext cx="30815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Sensitivity interpretation</a:t>
            </a:r>
            <a:endParaRPr sz="120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8BC66AAB-203F-418F-97DA-92AF522F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6501384"/>
            <a:ext cx="3054096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DV01₃ = DV01₁₀ = V이면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Π ≈ V × Δ(10Y−3Y)</a:t>
            </a:r>
            <a:endParaRPr sz="102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3D2500D-42E1-42D3-9FA4-D75B8E96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5989320"/>
            <a:ext cx="34015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74DA317A-C38A-41B3-B3F1-E5B052DE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5989320"/>
            <a:ext cx="10972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E202EC56-0D0B-498C-A7B6-0665FB39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35624"/>
            <a:ext cx="30815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Illustrative P&amp;L example</a:t>
            </a:r>
            <a:endParaRPr sz="12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02FF85AC-CA7F-49AE-A91F-A7F50ABC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501384"/>
            <a:ext cx="3054096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Case A D+1 +2.3bp → 약 +644만원</a:t>
            </a:r>
            <a:endParaRPr sz="94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Case B D+1 -2.4bp → 약 -672만원</a:t>
            </a:r>
            <a:endParaRPr sz="94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A9A5BB4A-9459-404C-91DA-E4EDA578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302752"/>
            <a:ext cx="8138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5" i="1">
                <a:solidFill>
                  <a:srgbClr val="788695"/>
                </a:solidFill>
                <a:latin typeface="Noto Sans CJK KR"/>
                <a:ea typeface="Noto Sans CJK KR"/>
                <a:cs typeface="Noto Sans CJK KR"/>
              </a:rPr>
              <a:t>Source: 본 조 가정·계산: p₃=p₁₀=1, MD₃=2.8, MD₁₀=8.2, 동일 DV01=280만원/bp. 특정 issue·futures contract의 실측 DV01 또는 실제 performance가 아님.</a:t>
            </a:r>
            <a:endParaRPr sz="635"/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2B8E045D-720D-448A-861B-54582AD3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8595360"/>
            <a:ext cx="8366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D2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1448E44F-5043-4E90-8368-85D27FED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723376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KTB 3s10s · GAMMA</a:t>
            </a:r>
            <a:endParaRPr sz="820"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C2543806-2D57-4228-912D-1E4415EE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872337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12 / 15</a:t>
            </a:r>
            <a:endParaRPr sz="820"/>
          </a:p>
        </p:txBody>
      </p:sp>
    </p:spTree>
    <p:extLst>
      <p:ext uri="{BB962C8B-B14F-4D97-AF65-F5344CB8AC3E}">
        <p14:creationId xmlns:p14="http://schemas.microsoft.com/office/powerpoint/2010/main" val="5442791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1A16436-0167-4C68-A2EA-59823E91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12700">
            <a:solidFill>
              <a:srgbClr val="203F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9ACCC6A-B10D-4C76-A9C5-EA9F0AC7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"/>
            <a:ext cx="7269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Invalidation &amp; Residual Risk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BA4395-DFB9-469F-8F5D-0728D866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786384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9F4"/>
                </a:solidFill>
                <a:latin typeface="Noto Sans CJK KR"/>
                <a:ea typeface="Noto Sans CJK KR"/>
                <a:cs typeface="Noto Sans CJK KR"/>
              </a:rPr>
              <a:t>DV01-neutral은 risk-free가 아니라 parallel duration risk의 1차 축소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DFAC2FE-D69E-4F36-ACC1-67DCED22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74320"/>
            <a:ext cx="804672" cy="347472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016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828F0F5-F178-4C38-9AB1-944A9A29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356616"/>
            <a:ext cx="69494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GAMMA</a:t>
            </a:r>
            <a:endParaRPr sz="83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5A7D45A-6DA6-4571-B418-3FC28823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08760"/>
            <a:ext cx="781812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1"/>
          </a:solidFill>
          <a:ln xmlns:a="http://schemas.openxmlformats.org/drawingml/2006/main" w="12700">
            <a:solidFill>
              <a:srgbClr val="F1B7AD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2785A14-9801-434F-8A6F-A672FB80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08760"/>
            <a:ext cx="109728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745"/>
          </a:solidFill>
          <a:ln xmlns:a="http://schemas.openxmlformats.org/drawingml/2006/main" w="12700">
            <a:solidFill>
              <a:srgbClr val="D6574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703A71D-8046-43FF-9AC3-876E96BB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655064"/>
            <a:ext cx="7498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D65745"/>
                </a:solidFill>
                <a:latin typeface="Noto Sans CJK KR"/>
                <a:ea typeface="Noto Sans CJK KR"/>
                <a:cs typeface="Noto Sans CJK KR"/>
              </a:rPr>
              <a:t>Failure case — 2025.02.25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63EF079-5C4E-4BDD-A6C3-117CD28E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020824"/>
            <a:ext cx="747064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latin typeface="Noto Sans CJK KR"/>
                <a:ea typeface="Noto Sans CJK KR"/>
                <a:cs typeface="Noto Sans CJK KR"/>
              </a:rPr>
              <a:t>기준금리를 3.00% → 2.75%로 인하했지만 D+1에 3Y -1.9bp, 10Y -7.3bp로 3s10s -5.4bp. 동일 DV01 가정의 3Y Long / 10Y Short 가상 P&amp;L은 약 -1,512만원.</a:t>
            </a:r>
            <a:endParaRPr sz="9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628F4E6-14F3-454A-916C-0EA8D1E9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374904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DCF4CC3-50CA-4C10-87E7-524A9106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109728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745"/>
          </a:solidFill>
          <a:ln xmlns:a="http://schemas.openxmlformats.org/drawingml/2006/main" w="12700">
            <a:solidFill>
              <a:srgbClr val="D6574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D3FCD85-DF42-499B-9E2B-E9D2D6D2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209544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Policy / inflation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98956EF-C393-487B-9EE7-EC96E06B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575304"/>
            <a:ext cx="34015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예상보다 매파적 경로 · 물가 재상승</a:t>
            </a:r>
            <a:endParaRPr sz="77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EFD242B-19F2-48E0-9C7D-02D50EC4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063240"/>
            <a:ext cx="374904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7118371-7B65-4529-9D07-C611411B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063240"/>
            <a:ext cx="109728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E5E32B6-C8FA-48C6-B532-4AB8F20E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3209544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Priced-in risk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1E8871D-A060-4E01-8648-8FB08E4B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3575304"/>
            <a:ext cx="34015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3Y에 완화 기대가 이미 과도 반영</a:t>
            </a:r>
            <a:endParaRPr sz="77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B451B15-793D-44C9-B223-917938D2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374904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FB0CD04-8105-425D-9B3F-4ADC8E9E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109728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12700">
            <a:solidFill>
              <a:srgbClr val="2AA87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94F7FB1-412A-4ED5-B003-81449E85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352544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Global long-end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8B6B8A1-03E8-47A9-8BBC-112229CC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18304"/>
            <a:ext cx="34015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UST10·term premium 충격으로 10Y 독자 움직임</a:t>
            </a:r>
            <a:endParaRPr sz="77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11C755E-EAF0-471A-A563-78463DC1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206240"/>
            <a:ext cx="374904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492ED5A-432C-4F2E-89E5-C01C32A5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206240"/>
            <a:ext cx="109728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5BF"/>
          </a:solidFill>
          <a:ln xmlns:a="http://schemas.openxmlformats.org/drawingml/2006/main" w="12700">
            <a:solidFill>
              <a:srgbClr val="2D85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8F7A274-15C4-4B90-AFEB-C84DB740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4352544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Non-parallel / convexity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53580E5-5FAF-455E-8A19-0519CBA8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4718304"/>
            <a:ext cx="34015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key-rate risk · convexity mismatch</a:t>
            </a:r>
            <a:endParaRPr sz="77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45BE217-68DD-4001-9810-52A1F8AF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374904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D0C83CF-EB1C-47FF-8D2C-974AAF7C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109728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12700">
            <a:solidFill>
              <a:srgbClr val="203F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2FA9083-B548-4F1B-ADF6-A0E8699A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95544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Supply / basis</a:t>
            </a:r>
            <a:endParaRPr sz="1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CFD20E8-E38E-4432-969B-F395B89C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861304"/>
            <a:ext cx="34015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장기채 발행·지표물 교체·현선물 basis</a:t>
            </a:r>
            <a:endParaRPr sz="77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5D82370C-2975-4187-A8BE-386EADF8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5349240"/>
            <a:ext cx="374904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5B112AD-1C8F-4B86-BA83-6BE85EEF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5349240"/>
            <a:ext cx="109728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789"/>
          </a:solidFill>
          <a:ln xmlns:a="http://schemas.openxmlformats.org/drawingml/2006/main" w="12700">
            <a:solidFill>
              <a:srgbClr val="68778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BF65197-F7F1-440F-BA24-B44DC972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5495544"/>
            <a:ext cx="3429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Carry / execution</a:t>
            </a:r>
            <a:endParaRPr sz="12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72A7D36-CCB1-4789-B214-ACB25551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5861304"/>
            <a:ext cx="34015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carry/roll · funding/repo · bid-ask · leg risk</a:t>
            </a:r>
            <a:endParaRPr sz="77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738187A-EF2B-409E-A016-83ECA8C0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903720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latin typeface="Noto Sans CJK KR"/>
                <a:ea typeface="Noto Sans CJK KR"/>
                <a:cs typeface="Noto Sans CJK KR"/>
              </a:rPr>
              <a:t>Already priced in: “인하 발생” ≠ “dovish surprise”임.</a:t>
            </a:r>
            <a:endParaRPr sz="105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27552E5-00CD-4AE2-B201-A5FE15C7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302752"/>
            <a:ext cx="8138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5" i="1">
                <a:latin typeface="Noto Sans CJK KR"/>
                <a:ea typeface="Noto Sans CJK KR"/>
                <a:cs typeface="Noto Sans CJK KR"/>
              </a:rPr>
              <a:t>Source: Failure case— 한국은행 Monetary Policy Decision(2025.02.25)·ECOS. 위험 항목은 methodology checklist이며 거래비용·execution performance 추정 아님.</a:t>
            </a:r>
            <a:endParaRPr sz="635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EB5BBB6E-3A9A-45D7-853F-B08B9D46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8595360"/>
            <a:ext cx="8366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D2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0F7CB50B-6089-479E-A2A5-E1A4D2EC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723376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KTB 3s10s · GAMMA</a:t>
            </a:r>
            <a:endParaRPr sz="82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96A8D573-FA43-4B0D-ABFC-25AA8F76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872337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13 / 15</a:t>
            </a:r>
            <a:endParaRPr sz="820"/>
          </a:p>
        </p:txBody>
      </p:sp>
    </p:spTree>
    <p:extLst>
      <p:ext uri="{BB962C8B-B14F-4D97-AF65-F5344CB8AC3E}">
        <p14:creationId xmlns:p14="http://schemas.microsoft.com/office/powerpoint/2010/main" val="18404424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4220F5-2651-4A78-88FD-9AF3E7C5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12700">
            <a:solidFill>
              <a:srgbClr val="203F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FF67C6-1CA3-4CF5-A724-46D58157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"/>
            <a:ext cx="7269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결론 — 무엇을 확인했는가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26A95FA-B6BA-4EDE-93CC-166C46BD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786384"/>
            <a:ext cx="7086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36회 사건연구와 대표 사례의 가상 손익을 구분해 해석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245F450-D9DE-4C01-97BD-A3168CC2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74320"/>
            <a:ext cx="804672" cy="347472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016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8989C7F-0B88-4FD3-B3F8-DE22307E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356616"/>
            <a:ext cx="69494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GAMMA</a:t>
            </a:r>
            <a:endParaRPr sz="83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09A5F63-AE5F-47FA-A600-3444E681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72768"/>
            <a:ext cx="18745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EE8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8A6B3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33D4AD7-4DAF-4C27-A927-0C8C3222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91640"/>
            <a:ext cx="172821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D85BF"/>
                </a:solidFill>
                <a:latin typeface="Noto Sans CJK KR"/>
                <a:ea typeface="Noto Sans CJK KR"/>
                <a:cs typeface="Noto Sans CJK KR"/>
              </a:rPr>
              <a:t>+0.6bp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5BDFB57-8D6C-419B-83EF-124415E9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76272"/>
            <a:ext cx="1691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D+1 3s10s 평균</a:t>
            </a:r>
            <a:endParaRPr sz="73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035AFBD-7B24-4181-9C27-928096F1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572768"/>
            <a:ext cx="18745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EE8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8A6B3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7D45C32-A236-4C1D-83BE-94C75EDE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32" y="1691640"/>
            <a:ext cx="172821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D85BF"/>
                </a:solidFill>
                <a:latin typeface="Noto Sans CJK KR"/>
                <a:ea typeface="Noto Sans CJK KR"/>
                <a:cs typeface="Noto Sans CJK KR"/>
              </a:rPr>
              <a:t>+0.4bp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5BE901E-87B1-4B4C-8550-E0E79F0B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176272"/>
            <a:ext cx="1691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D+1 3s10s 중앙값</a:t>
            </a:r>
            <a:endParaRPr sz="73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68D604F-5EC4-4D24-AE32-EB443471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572768"/>
            <a:ext cx="18745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EE8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8A6B3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A4679BD-542B-48DD-8156-F79E79B9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691640"/>
            <a:ext cx="172821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AA876"/>
                </a:solidFill>
                <a:latin typeface="Noto Sans CJK KR"/>
                <a:ea typeface="Noto Sans CJK KR"/>
                <a:cs typeface="Noto Sans CJK KR"/>
              </a:rPr>
              <a:t>19 / 36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3A019F7-524D-4030-B875-A6D75B35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176272"/>
            <a:ext cx="1691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D+1 steepening</a:t>
            </a:r>
            <a:endParaRPr sz="73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BDD1330-BADF-46DB-858A-3BB14257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572768"/>
            <a:ext cx="169164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6DEE8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8A6B3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D56C1A1-61CF-4D7D-BA8C-6F9E5047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1691640"/>
            <a:ext cx="154533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28C28"/>
                </a:solidFill>
                <a:latin typeface="Noto Sans CJK KR"/>
                <a:ea typeface="Noto Sans CJK KR"/>
                <a:cs typeface="Noto Sans CJK KR"/>
              </a:rPr>
              <a:t>21 / 36</a:t>
            </a:r>
            <a:endParaRPr sz="1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5378E9E-6A7F-4EEC-A6B9-B70C7402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176272"/>
            <a:ext cx="1508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|Δ3Y| &gt; |Δ10Y|</a:t>
            </a:r>
            <a:endParaRPr sz="73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3FCE14A-E157-49CC-BBD0-4460AB91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63240"/>
            <a:ext cx="24688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B16C26A-63AE-46B2-A267-5C18124A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63240"/>
            <a:ext cx="109728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5BF"/>
          </a:solidFill>
          <a:ln xmlns:a="http://schemas.openxmlformats.org/drawingml/2006/main" w="12700">
            <a:solidFill>
              <a:srgbClr val="2D85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DB1EB19-6E40-4D19-ADED-1100E6CA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209544"/>
            <a:ext cx="2148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1. Empirical takeaway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BB75373-4495-4AFA-AC3E-D08AA5B8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575304"/>
            <a:ext cx="2121408" cy="1435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latin typeface="Noto Sans CJK KR"/>
                <a:ea typeface="Noto Sans CJK KR"/>
                <a:cs typeface="Noto Sans CJK KR"/>
              </a:rPr>
              <a:t>3년물 절대 변동폭이 더 컸던 경우는 21/36회였다. 3s10s는 19회 확대, 17회 축소돼 인상·동결·인하 모두 양 방향에서 나타났다.</a:t>
            </a:r>
            <a:endParaRPr sz="91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504F9EA-480D-435E-AA37-A625D4CA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063240"/>
            <a:ext cx="24688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131F855-2CF5-406B-B885-70A5CCD0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063240"/>
            <a:ext cx="109728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6D8A4AA-F480-4FC5-8535-4788F8D6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3209544"/>
            <a:ext cx="2148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2. Interpretation takeaway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40E14D0-DADA-4F2E-BE11-690BA23F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3575304"/>
            <a:ext cx="2121408" cy="1435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latin typeface="Noto Sans CJK KR"/>
                <a:ea typeface="Noto Sans CJK KR"/>
                <a:cs typeface="Noto Sans CJK KR"/>
              </a:rPr>
              <a:t>인상·인하는 정책결정 사실이며 시장 예상과의 차이는 측정하지 않았다. 선반영과 대외금리는 별도 확인이 필요하다.</a:t>
            </a:r>
            <a:endParaRPr sz="91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3A57373-73AB-474F-B498-FCCA14FA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3063240"/>
            <a:ext cx="24688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1EA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AAB5C2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7E7AB70-9F9A-4463-8725-B6D5857D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3063240"/>
            <a:ext cx="109728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12700">
            <a:solidFill>
              <a:srgbClr val="2AA87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F5E67F1-4334-4977-A6F0-D2F4C163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209544"/>
            <a:ext cx="2148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03F6B"/>
                </a:solidFill>
                <a:latin typeface="Noto Sans CJK KR"/>
                <a:ea typeface="Noto Sans CJK KR"/>
                <a:cs typeface="Noto Sans CJK KR"/>
              </a:rPr>
              <a:t>3. Trade/Risk takeaway</a:t>
            </a:r>
            <a:endParaRPr sz="1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3C08284-CCD9-434B-8CC6-8FB4C67B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575304"/>
            <a:ext cx="2121408" cy="1435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latin typeface="Noto Sans CJK KR"/>
                <a:ea typeface="Noto Sans CJK KR"/>
                <a:cs typeface="Noto Sans CJK KR"/>
              </a:rPr>
              <a:t>3년물 매수·10년물 매도는 Steepening 뷰를 표현한 가상 포지션이다. DV01을 맞춰도 커브·베이시스·조달·체결 위험은 남는다.</a:t>
            </a:r>
            <a:endParaRPr sz="91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6846D4A-1337-4B58-80B2-D1339A59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251192"/>
            <a:ext cx="8138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40" i="1">
                <a:latin typeface="Noto Sans CJK KR"/>
                <a:ea typeface="Noto Sans CJK KR"/>
                <a:cs typeface="Noto Sans CJK KR"/>
              </a:rPr>
              <a:t>Source: BOK Monetary Policy Decisions·ECOS 817Y002; Federal Reserve/FRED DGS2·DGS10·DEXKOUS; BEA. Full sample 36 policy events (through 2026.05.28) &amp; illustrative DV01 sensitivity. Calculation: GAMMA.</a:t>
            </a:r>
            <a:endParaRPr sz="635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6CE53B7-44AF-4BD5-86A4-1B843D84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8595360"/>
            <a:ext cx="8366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9D2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D18949B-D979-4C8F-9712-8D482266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723376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KTB 3s10s · GAMMA</a:t>
            </a:r>
            <a:endParaRPr sz="82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2C6D9E27-A8D6-4468-8D5C-71007053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8723376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>
                <a:solidFill>
                  <a:srgbClr val="687789"/>
                </a:solidFill>
                <a:latin typeface="Noto Sans CJK KR"/>
                <a:ea typeface="Noto Sans CJK KR"/>
                <a:cs typeface="Noto Sans CJK KR"/>
              </a:rPr>
              <a:t>14 / 15</a:t>
            </a:r>
            <a:endParaRPr sz="820"/>
          </a:p>
        </p:txBody>
      </p:sp>
    </p:spTree>
    <p:extLst>
      <p:ext uri="{BB962C8B-B14F-4D97-AF65-F5344CB8AC3E}">
        <p14:creationId xmlns:p14="http://schemas.microsoft.com/office/powerpoint/2010/main" val="15588692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03F6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5AEC6E1-21BE-4012-A788-3FF1D64B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B"/>
          </a:solidFill>
          <a:ln xmlns:a="http://schemas.openxmlformats.org/drawingml/2006/main" w="12700">
            <a:solidFill>
              <a:srgbClr val="203F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4DCBF47-7F2A-418D-9507-C832A72A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감사합니다</a:t>
            </a:r>
            <a:endParaRPr sz="3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AAC942A-B5D1-4BE1-B85A-283E4CFD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71800"/>
            <a:ext cx="7498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DCE9F4"/>
                </a:solidFill>
                <a:latin typeface="Noto Sans CJK KR"/>
                <a:ea typeface="Noto Sans CJK KR"/>
                <a:cs typeface="Noto Sans CJK KR"/>
              </a:rPr>
              <a:t>Q&amp;A</a:t>
            </a:r>
            <a:endParaRPr sz="1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8D7FA2B-67AD-4E3B-9388-CB61CAEC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13632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450">
            <a:solidFill>
              <a:srgbClr val="2D85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BCBDC95-44EF-4652-9B82-5DAB1F8E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7648"/>
            <a:ext cx="9144000" cy="2816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5BF"/>
          </a:solidFill>
          <a:ln xmlns:a="http://schemas.openxmlformats.org/drawingml/2006/main" w="12700">
            <a:solidFill>
              <a:srgbClr val="2D85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8191C3D-D5A9-4874-A95B-C0EF5FF2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89520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D9EEFF"/>
                </a:solidFill>
                <a:latin typeface="Noto Sans CJK KR"/>
                <a:ea typeface="Noto Sans CJK KR"/>
                <a:cs typeface="Noto Sans CJK KR"/>
              </a:rPr>
              <a:t>Source: 한국은행 Monetary Policy Decisions·ECOS · Federal Reserve/FRED · BEA | Analysis: Python · pandas · matplotlib</a:t>
            </a:r>
            <a:endParaRPr sz="88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6ADFE3B-A191-4BB5-98AB-096A5FD6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8183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GAMMA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253361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2026-09-30T19:07:01.5900000Z</dcterms:created>
  <dcterms:modified xsi:type="dcterms:W3CDTF">2026-09-30T19:07:01.5900000Z</dcterms:modified>
</coreProperties>
</file>